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Montserrat Bold" charset="1" panose="00000800000000000000"/>
      <p:regular r:id="rId34"/>
    </p:embeddedFont>
    <p:embeddedFont>
      <p:font typeface="Open Sans" charset="1" panose="00000000000000000000"/>
      <p:regular r:id="rId35"/>
    </p:embeddedFont>
    <p:embeddedFont>
      <p:font typeface="Be Vietnam" charset="1" panose="00000500000000000000"/>
      <p:regular r:id="rId36"/>
    </p:embeddedFont>
    <p:embeddedFont>
      <p:font typeface="Italianno" charset="1" panose="00000000000000000000"/>
      <p:regular r:id="rId37"/>
    </p:embeddedFont>
    <p:embeddedFont>
      <p:font typeface="Be Vietnam Ultra-Bold" charset="1" panose="00000900000000000000"/>
      <p:regular r:id="rId38"/>
    </p:embeddedFont>
    <p:embeddedFont>
      <p:font typeface="Open Sans Bold Italics" charset="1" panose="00000000000000000000"/>
      <p:regular r:id="rId39"/>
    </p:embeddedFont>
    <p:embeddedFont>
      <p:font typeface="IBM Plex Mono Bold" charset="1" panose="020B0809050203000203"/>
      <p:regular r:id="rId40"/>
    </p:embeddedFont>
    <p:embeddedFont>
      <p:font typeface="Open Sans Bold" charset="1" panose="00000000000000000000"/>
      <p:regular r:id="rId41"/>
    </p:embeddedFont>
    <p:embeddedFont>
      <p:font typeface="Open Sans Italics" charset="1" panose="00000000000000000000"/>
      <p:regular r:id="rId42"/>
    </p:embeddedFont>
    <p:embeddedFont>
      <p:font typeface="Montserrat" charset="1" panose="00000500000000000000"/>
      <p:regular r:id="rId43"/>
    </p:embeddedFont>
    <p:embeddedFont>
      <p:font typeface="Montaser Arabic Bold" charset="1" panose="00000800000000000000"/>
      <p:regular r:id="rId44"/>
    </p:embeddedFont>
    <p:embeddedFont>
      <p:font typeface="Montaser Arabic" charset="1" panose="00000500000000000000"/>
      <p:regular r:id="rId45"/>
    </p:embeddedFont>
    <p:embeddedFont>
      <p:font typeface="Montaser Arabic Semi-Bold" charset="1" panose="00000700000000000000"/>
      <p:regular r:id="rId46"/>
    </p:embeddedFont>
    <p:embeddedFont>
      <p:font typeface="Montaser Arabic Light" charset="1" panose="0000040000000000000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gi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9.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23.png" Type="http://schemas.openxmlformats.org/officeDocument/2006/relationships/image"/><Relationship Id="rId5"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8953500" y="0"/>
            <a:ext cx="9334500" cy="10287000"/>
          </a:xfrm>
          <a:custGeom>
            <a:avLst/>
            <a:gdLst/>
            <a:ahLst/>
            <a:cxnLst/>
            <a:rect r="r" b="b" t="t" l="l"/>
            <a:pathLst>
              <a:path h="10287000" w="9334500">
                <a:moveTo>
                  <a:pt x="0" y="0"/>
                </a:moveTo>
                <a:lnTo>
                  <a:pt x="9334500" y="0"/>
                </a:lnTo>
                <a:lnTo>
                  <a:pt x="9334500" y="10287000"/>
                </a:lnTo>
                <a:lnTo>
                  <a:pt x="0" y="10287000"/>
                </a:lnTo>
                <a:lnTo>
                  <a:pt x="0" y="0"/>
                </a:lnTo>
                <a:close/>
              </a:path>
            </a:pathLst>
          </a:custGeom>
          <a:blipFill>
            <a:blip r:embed="rId2"/>
            <a:stretch>
              <a:fillRect l="0" t="-63" r="0" b="-63"/>
            </a:stretch>
          </a:blipFill>
          <a:ln cap="sq">
            <a:noFill/>
            <a:prstDash val="solid"/>
            <a:miter/>
          </a:ln>
        </p:spPr>
      </p:sp>
      <p:grpSp>
        <p:nvGrpSpPr>
          <p:cNvPr name="Group 3" id="3"/>
          <p:cNvGrpSpPr/>
          <p:nvPr/>
        </p:nvGrpSpPr>
        <p:grpSpPr>
          <a:xfrm rot="0">
            <a:off x="7620000" y="0"/>
            <a:ext cx="3810000" cy="10287000"/>
            <a:chOff x="0" y="0"/>
            <a:chExt cx="5080000" cy="13716000"/>
          </a:xfrm>
        </p:grpSpPr>
        <p:sp>
          <p:nvSpPr>
            <p:cNvPr name="Freeform 4" id="4"/>
            <p:cNvSpPr/>
            <p:nvPr/>
          </p:nvSpPr>
          <p:spPr>
            <a:xfrm flipH="false" flipV="false" rot="0">
              <a:off x="0" y="0"/>
              <a:ext cx="5080000" cy="13716000"/>
            </a:xfrm>
            <a:custGeom>
              <a:avLst/>
              <a:gdLst/>
              <a:ahLst/>
              <a:cxnLst/>
              <a:rect r="r" b="b" t="t" l="l"/>
              <a:pathLst>
                <a:path h="13716000" w="5080000">
                  <a:moveTo>
                    <a:pt x="0" y="0"/>
                  </a:moveTo>
                  <a:lnTo>
                    <a:pt x="5080000" y="0"/>
                  </a:lnTo>
                  <a:lnTo>
                    <a:pt x="5080000" y="13716000"/>
                  </a:lnTo>
                  <a:lnTo>
                    <a:pt x="0" y="13716000"/>
                  </a:lnTo>
                  <a:close/>
                </a:path>
              </a:pathLst>
            </a:custGeom>
            <a:gradFill rotWithShape="true">
              <a:gsLst>
                <a:gs pos="0">
                  <a:srgbClr val="081C24">
                    <a:alpha val="100000"/>
                  </a:srgbClr>
                </a:gs>
                <a:gs pos="100000">
                  <a:srgbClr val="081C24">
                    <a:alpha val="0"/>
                  </a:srgbClr>
                </a:gs>
              </a:gsLst>
              <a:lin ang="16200000"/>
            </a:gradFill>
            <a:ln cap="sq">
              <a:noFill/>
              <a:prstDash val="solid"/>
              <a:miter/>
            </a:ln>
          </p:spPr>
        </p:sp>
        <p:sp>
          <p:nvSpPr>
            <p:cNvPr name="TextBox 5" id="5"/>
            <p:cNvSpPr txBox="true"/>
            <p:nvPr/>
          </p:nvSpPr>
          <p:spPr>
            <a:xfrm>
              <a:off x="0" y="-38100"/>
              <a:ext cx="5080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571500" y="3297109"/>
            <a:ext cx="8572500" cy="1040256"/>
          </a:xfrm>
          <a:prstGeom prst="rect">
            <a:avLst/>
          </a:prstGeom>
        </p:spPr>
        <p:txBody>
          <a:bodyPr anchor="t" rtlCol="false" tIns="0" lIns="0" bIns="0" rIns="0">
            <a:spAutoFit/>
          </a:bodyPr>
          <a:lstStyle/>
          <a:p>
            <a:pPr algn="l">
              <a:lnSpc>
                <a:spcPts val="7903"/>
              </a:lnSpc>
            </a:pPr>
            <a:r>
              <a:rPr lang="en-US" sz="7599" b="true">
                <a:solidFill>
                  <a:srgbClr val="FFFFFF"/>
                </a:solidFill>
                <a:latin typeface="Montserrat Bold"/>
                <a:ea typeface="Montserrat Bold"/>
                <a:cs typeface="Montserrat Bold"/>
                <a:sym typeface="Montserrat Bold"/>
              </a:rPr>
              <a:t>Báo cáo Stage 2</a:t>
            </a:r>
          </a:p>
        </p:txBody>
      </p:sp>
      <p:grpSp>
        <p:nvGrpSpPr>
          <p:cNvPr name="Group 7" id="7"/>
          <p:cNvGrpSpPr/>
          <p:nvPr/>
        </p:nvGrpSpPr>
        <p:grpSpPr>
          <a:xfrm rot="0">
            <a:off x="571500" y="4337365"/>
            <a:ext cx="8091981" cy="121371"/>
            <a:chOff x="0" y="0"/>
            <a:chExt cx="10789308" cy="161828"/>
          </a:xfrm>
        </p:grpSpPr>
        <p:sp>
          <p:nvSpPr>
            <p:cNvPr name="Freeform 8" id="8"/>
            <p:cNvSpPr/>
            <p:nvPr/>
          </p:nvSpPr>
          <p:spPr>
            <a:xfrm flipH="false" flipV="false" rot="0">
              <a:off x="0" y="0"/>
              <a:ext cx="10789307" cy="161828"/>
            </a:xfrm>
            <a:custGeom>
              <a:avLst/>
              <a:gdLst/>
              <a:ahLst/>
              <a:cxnLst/>
              <a:rect r="r" b="b" t="t" l="l"/>
              <a:pathLst>
                <a:path h="161828" w="10789307">
                  <a:moveTo>
                    <a:pt x="0" y="0"/>
                  </a:moveTo>
                  <a:lnTo>
                    <a:pt x="10789307" y="0"/>
                  </a:lnTo>
                  <a:lnTo>
                    <a:pt x="10789307" y="161828"/>
                  </a:lnTo>
                  <a:lnTo>
                    <a:pt x="0" y="161828"/>
                  </a:lnTo>
                  <a:close/>
                </a:path>
              </a:pathLst>
            </a:custGeom>
            <a:solidFill>
              <a:srgbClr val="FF7959"/>
            </a:solidFill>
            <a:ln cap="sq">
              <a:noFill/>
              <a:prstDash val="solid"/>
              <a:miter/>
            </a:ln>
          </p:spPr>
        </p:sp>
        <p:sp>
          <p:nvSpPr>
            <p:cNvPr name="TextBox 9" id="9"/>
            <p:cNvSpPr txBox="true"/>
            <p:nvPr/>
          </p:nvSpPr>
          <p:spPr>
            <a:xfrm>
              <a:off x="0" y="-38100"/>
              <a:ext cx="10789308" cy="199928"/>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905000" y="4742497"/>
            <a:ext cx="7620000" cy="401003"/>
          </a:xfrm>
          <a:prstGeom prst="rect">
            <a:avLst/>
          </a:prstGeom>
        </p:spPr>
        <p:txBody>
          <a:bodyPr anchor="t" rtlCol="false" tIns="0" lIns="0" bIns="0" rIns="0">
            <a:spAutoFit/>
          </a:bodyPr>
          <a:lstStyle/>
          <a:p>
            <a:pPr algn="l">
              <a:lnSpc>
                <a:spcPts val="3307"/>
              </a:lnSpc>
            </a:pPr>
            <a:r>
              <a:rPr lang="en-US" sz="2449">
                <a:solidFill>
                  <a:srgbClr val="FFFFFF"/>
                </a:solidFill>
                <a:latin typeface="Open Sans"/>
                <a:ea typeface="Open Sans"/>
                <a:cs typeface="Open Sans"/>
                <a:sym typeface="Open Sans"/>
              </a:rPr>
              <a:t>Model Architecture - Evaluation - UI</a:t>
            </a:r>
          </a:p>
        </p:txBody>
      </p:sp>
      <p:sp>
        <p:nvSpPr>
          <p:cNvPr name="TextBox 11" id="11"/>
          <p:cNvSpPr txBox="true"/>
          <p:nvPr/>
        </p:nvSpPr>
        <p:spPr>
          <a:xfrm rot="0">
            <a:off x="952500" y="8534400"/>
            <a:ext cx="7239000" cy="452914"/>
          </a:xfrm>
          <a:prstGeom prst="rect">
            <a:avLst/>
          </a:prstGeom>
        </p:spPr>
        <p:txBody>
          <a:bodyPr anchor="t" rtlCol="false" tIns="0" lIns="0" bIns="0" rIns="0">
            <a:spAutoFit/>
          </a:bodyPr>
          <a:lstStyle/>
          <a:p>
            <a:pPr algn="l">
              <a:lnSpc>
                <a:spcPts val="3678"/>
              </a:lnSpc>
            </a:pPr>
            <a:r>
              <a:rPr lang="en-US" sz="2724">
                <a:solidFill>
                  <a:srgbClr val="FFFFFF"/>
                </a:solidFill>
                <a:latin typeface="Open Sans"/>
                <a:ea typeface="Open Sans"/>
                <a:cs typeface="Open Sans"/>
                <a:sym typeface="Open Sans"/>
              </a:rPr>
              <a:t>Tác giả: Nhóm 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sp>
        <p:nvSpPr>
          <p:cNvPr name="Freeform 3" id="3"/>
          <p:cNvSpPr/>
          <p:nvPr/>
        </p:nvSpPr>
        <p:spPr>
          <a:xfrm flipH="false" flipV="false" rot="-5400000">
            <a:off x="6184192" y="-1875422"/>
            <a:ext cx="5919615" cy="16882112"/>
          </a:xfrm>
          <a:custGeom>
            <a:avLst/>
            <a:gdLst/>
            <a:ahLst/>
            <a:cxnLst/>
            <a:rect r="r" b="b" t="t" l="l"/>
            <a:pathLst>
              <a:path h="16882112" w="5919615">
                <a:moveTo>
                  <a:pt x="0" y="0"/>
                </a:moveTo>
                <a:lnTo>
                  <a:pt x="5919616" y="0"/>
                </a:lnTo>
                <a:lnTo>
                  <a:pt x="5919616" y="16882113"/>
                </a:lnTo>
                <a:lnTo>
                  <a:pt x="0" y="16882113"/>
                </a:lnTo>
                <a:lnTo>
                  <a:pt x="0" y="0"/>
                </a:lnTo>
                <a:close/>
              </a:path>
            </a:pathLst>
          </a:custGeom>
          <a:blipFill>
            <a:blip r:embed="rId3"/>
            <a:stretch>
              <a:fillRect l="-41372" t="-6338" r="-85975" b="-6338"/>
            </a:stretch>
          </a:blipFill>
        </p:spPr>
      </p:sp>
      <p:sp>
        <p:nvSpPr>
          <p:cNvPr name="TextBox 4" id="4"/>
          <p:cNvSpPr txBox="true"/>
          <p:nvPr/>
        </p:nvSpPr>
        <p:spPr>
          <a:xfrm rot="0">
            <a:off x="1681666" y="428052"/>
            <a:ext cx="14924669" cy="2985089"/>
          </a:xfrm>
          <a:prstGeom prst="rect">
            <a:avLst/>
          </a:prstGeom>
        </p:spPr>
        <p:txBody>
          <a:bodyPr anchor="t" rtlCol="false" tIns="0" lIns="0" bIns="0" rIns="0">
            <a:spAutoFit/>
          </a:bodyPr>
          <a:lstStyle/>
          <a:p>
            <a:pPr algn="ctr">
              <a:lnSpc>
                <a:spcPts val="23989"/>
              </a:lnSpc>
            </a:pPr>
            <a:r>
              <a:rPr lang="en-US" sz="18453">
                <a:solidFill>
                  <a:srgbClr val="A8967A"/>
                </a:solidFill>
                <a:latin typeface="Be Vietnam"/>
                <a:ea typeface="Be Vietnam"/>
                <a:cs typeface="Be Vietnam"/>
                <a:sym typeface="Be Vietnam"/>
              </a:rPr>
              <a:t>GROUP 8</a:t>
            </a:r>
          </a:p>
        </p:txBody>
      </p:sp>
      <p:sp>
        <p:nvSpPr>
          <p:cNvPr name="Freeform 5" id="5"/>
          <p:cNvSpPr/>
          <p:nvPr/>
        </p:nvSpPr>
        <p:spPr>
          <a:xfrm flipH="true" flipV="false" rot="0">
            <a:off x="-1640128" y="1028700"/>
            <a:ext cx="5544395" cy="3889283"/>
          </a:xfrm>
          <a:custGeom>
            <a:avLst/>
            <a:gdLst/>
            <a:ahLst/>
            <a:cxnLst/>
            <a:rect r="r" b="b" t="t" l="l"/>
            <a:pathLst>
              <a:path h="3889283" w="5544395">
                <a:moveTo>
                  <a:pt x="5544395" y="0"/>
                </a:moveTo>
                <a:lnTo>
                  <a:pt x="0" y="0"/>
                </a:lnTo>
                <a:lnTo>
                  <a:pt x="0" y="3889283"/>
                </a:lnTo>
                <a:lnTo>
                  <a:pt x="5544395" y="3889283"/>
                </a:lnTo>
                <a:lnTo>
                  <a:pt x="5544395" y="0"/>
                </a:lnTo>
                <a:close/>
              </a:path>
            </a:pathLst>
          </a:custGeom>
          <a:blipFill>
            <a:blip r:embed="rId4"/>
            <a:stretch>
              <a:fillRect l="0" t="0" r="0" b="0"/>
            </a:stretch>
          </a:blipFill>
        </p:spPr>
      </p:sp>
      <p:sp>
        <p:nvSpPr>
          <p:cNvPr name="Freeform 6" id="6"/>
          <p:cNvSpPr/>
          <p:nvPr/>
        </p:nvSpPr>
        <p:spPr>
          <a:xfrm flipH="false" flipV="false" rot="0">
            <a:off x="15691333" y="8467978"/>
            <a:ext cx="3502594" cy="2457001"/>
          </a:xfrm>
          <a:custGeom>
            <a:avLst/>
            <a:gdLst/>
            <a:ahLst/>
            <a:cxnLst/>
            <a:rect r="r" b="b" t="t" l="l"/>
            <a:pathLst>
              <a:path h="2457001" w="3502594">
                <a:moveTo>
                  <a:pt x="0" y="0"/>
                </a:moveTo>
                <a:lnTo>
                  <a:pt x="3502594" y="0"/>
                </a:lnTo>
                <a:lnTo>
                  <a:pt x="3502594" y="2457001"/>
                </a:lnTo>
                <a:lnTo>
                  <a:pt x="0" y="2457001"/>
                </a:lnTo>
                <a:lnTo>
                  <a:pt x="0" y="0"/>
                </a:lnTo>
                <a:close/>
              </a:path>
            </a:pathLst>
          </a:custGeom>
          <a:blipFill>
            <a:blip r:embed="rId4"/>
            <a:stretch>
              <a:fillRect l="0" t="0" r="0" b="0"/>
            </a:stretch>
          </a:blipFill>
        </p:spPr>
      </p:sp>
      <p:grpSp>
        <p:nvGrpSpPr>
          <p:cNvPr name="Group 7" id="7"/>
          <p:cNvGrpSpPr/>
          <p:nvPr/>
        </p:nvGrpSpPr>
        <p:grpSpPr>
          <a:xfrm rot="0">
            <a:off x="2004299" y="4425774"/>
            <a:ext cx="1897136" cy="1897136"/>
            <a:chOff x="0" y="0"/>
            <a:chExt cx="2529515" cy="2529515"/>
          </a:xfrm>
        </p:grpSpPr>
        <p:grpSp>
          <p:nvGrpSpPr>
            <p:cNvPr name="Group 8" id="8"/>
            <p:cNvGrpSpPr/>
            <p:nvPr/>
          </p:nvGrpSpPr>
          <p:grpSpPr>
            <a:xfrm rot="0">
              <a:off x="0" y="0"/>
              <a:ext cx="2529515" cy="252951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14945" y="114945"/>
              <a:ext cx="2299624" cy="22996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14" id="14"/>
          <p:cNvGrpSpPr/>
          <p:nvPr/>
        </p:nvGrpSpPr>
        <p:grpSpPr>
          <a:xfrm rot="0">
            <a:off x="9419664" y="4425774"/>
            <a:ext cx="1897136" cy="1897136"/>
            <a:chOff x="0" y="0"/>
            <a:chExt cx="2529515" cy="2529515"/>
          </a:xfrm>
        </p:grpSpPr>
        <p:grpSp>
          <p:nvGrpSpPr>
            <p:cNvPr name="Group 15" id="15"/>
            <p:cNvGrpSpPr/>
            <p:nvPr/>
          </p:nvGrpSpPr>
          <p:grpSpPr>
            <a:xfrm rot="0">
              <a:off x="0" y="0"/>
              <a:ext cx="2529515" cy="252951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14945" y="114945"/>
              <a:ext cx="2299624" cy="229962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0">
            <a:off x="4998386" y="6990977"/>
            <a:ext cx="1897136" cy="1897136"/>
            <a:chOff x="0" y="0"/>
            <a:chExt cx="2529515" cy="2529515"/>
          </a:xfrm>
        </p:grpSpPr>
        <p:grpSp>
          <p:nvGrpSpPr>
            <p:cNvPr name="Group 22" id="22"/>
            <p:cNvGrpSpPr/>
            <p:nvPr/>
          </p:nvGrpSpPr>
          <p:grpSpPr>
            <a:xfrm rot="0">
              <a:off x="0" y="0"/>
              <a:ext cx="2529515" cy="252951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4945" y="114945"/>
              <a:ext cx="2299624" cy="229962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
        <p:nvSpPr>
          <p:cNvPr name="TextBox 28" id="28"/>
          <p:cNvSpPr txBox="true"/>
          <p:nvPr/>
        </p:nvSpPr>
        <p:spPr>
          <a:xfrm rot="0">
            <a:off x="3854553" y="575454"/>
            <a:ext cx="10578894" cy="3329569"/>
          </a:xfrm>
          <a:prstGeom prst="rect">
            <a:avLst/>
          </a:prstGeom>
        </p:spPr>
        <p:txBody>
          <a:bodyPr anchor="t" rtlCol="false" tIns="0" lIns="0" bIns="0" rIns="0">
            <a:spAutoFit/>
          </a:bodyPr>
          <a:lstStyle/>
          <a:p>
            <a:pPr algn="ctr">
              <a:lnSpc>
                <a:spcPts val="26752"/>
              </a:lnSpc>
            </a:pPr>
            <a:r>
              <a:rPr lang="en-US" sz="20579">
                <a:solidFill>
                  <a:srgbClr val="FFF8EF"/>
                </a:solidFill>
                <a:latin typeface="Italianno"/>
                <a:ea typeface="Italianno"/>
                <a:cs typeface="Italianno"/>
                <a:sym typeface="Italianno"/>
              </a:rPr>
              <a:t>Mục Lục</a:t>
            </a:r>
          </a:p>
        </p:txBody>
      </p:sp>
      <p:sp>
        <p:nvSpPr>
          <p:cNvPr name="TextBox 29" id="29"/>
          <p:cNvSpPr txBox="true"/>
          <p:nvPr/>
        </p:nvSpPr>
        <p:spPr>
          <a:xfrm rot="0">
            <a:off x="2004299" y="4386856"/>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01</a:t>
            </a:r>
          </a:p>
        </p:txBody>
      </p:sp>
      <p:sp>
        <p:nvSpPr>
          <p:cNvPr name="TextBox 30" id="30"/>
          <p:cNvSpPr txBox="true"/>
          <p:nvPr/>
        </p:nvSpPr>
        <p:spPr>
          <a:xfrm rot="0">
            <a:off x="9419664" y="4386856"/>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02</a:t>
            </a:r>
          </a:p>
        </p:txBody>
      </p:sp>
      <p:sp>
        <p:nvSpPr>
          <p:cNvPr name="TextBox 31" id="31"/>
          <p:cNvSpPr txBox="true"/>
          <p:nvPr/>
        </p:nvSpPr>
        <p:spPr>
          <a:xfrm rot="0">
            <a:off x="4998386" y="6861981"/>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03</a:t>
            </a:r>
          </a:p>
        </p:txBody>
      </p:sp>
      <p:sp>
        <p:nvSpPr>
          <p:cNvPr name="TextBox 32" id="32"/>
          <p:cNvSpPr txBox="true"/>
          <p:nvPr/>
        </p:nvSpPr>
        <p:spPr>
          <a:xfrm rot="0">
            <a:off x="4256692" y="4755454"/>
            <a:ext cx="4648623" cy="1875078"/>
          </a:xfrm>
          <a:prstGeom prst="rect">
            <a:avLst/>
          </a:prstGeom>
        </p:spPr>
        <p:txBody>
          <a:bodyPr anchor="t" rtlCol="false" tIns="0" lIns="0" bIns="0" rIns="0">
            <a:spAutoFit/>
          </a:bodyPr>
          <a:lstStyle/>
          <a:p>
            <a:pPr algn="l">
              <a:lnSpc>
                <a:spcPts val="5012"/>
              </a:lnSpc>
            </a:pPr>
            <a:r>
              <a:rPr lang="en-US" sz="3856" b="true">
                <a:solidFill>
                  <a:srgbClr val="645135"/>
                </a:solidFill>
                <a:latin typeface="Be Vietnam Ultra-Bold"/>
                <a:ea typeface="Be Vietnam Ultra-Bold"/>
                <a:cs typeface="Be Vietnam Ultra-Bold"/>
                <a:sym typeface="Be Vietnam Ultra-Bold"/>
              </a:rPr>
              <a:t>Phân</a:t>
            </a:r>
            <a:r>
              <a:rPr lang="en-US" sz="3856" b="true">
                <a:solidFill>
                  <a:srgbClr val="645135"/>
                </a:solidFill>
                <a:latin typeface="Be Vietnam Ultra-Bold"/>
                <a:ea typeface="Be Vietnam Ultra-Bold"/>
                <a:cs typeface="Be Vietnam Ultra-Bold"/>
                <a:sym typeface="Be Vietnam Ultra-Bold"/>
              </a:rPr>
              <a:t> tích PCA </a:t>
            </a:r>
          </a:p>
          <a:p>
            <a:pPr algn="l">
              <a:lnSpc>
                <a:spcPts val="5012"/>
              </a:lnSpc>
            </a:pPr>
            <a:r>
              <a:rPr lang="en-US" sz="3856" b="true">
                <a:solidFill>
                  <a:srgbClr val="645135"/>
                </a:solidFill>
                <a:latin typeface="Be Vietnam Ultra-Bold"/>
                <a:ea typeface="Be Vietnam Ultra-Bold"/>
                <a:cs typeface="Be Vietnam Ultra-Bold"/>
                <a:sym typeface="Be Vietnam Ultra-Bold"/>
              </a:rPr>
              <a:t>và K-Means</a:t>
            </a:r>
          </a:p>
          <a:p>
            <a:pPr algn="l">
              <a:lnSpc>
                <a:spcPts val="5012"/>
              </a:lnSpc>
            </a:pPr>
          </a:p>
        </p:txBody>
      </p:sp>
      <p:sp>
        <p:nvSpPr>
          <p:cNvPr name="TextBox 33" id="33"/>
          <p:cNvSpPr txBox="true"/>
          <p:nvPr/>
        </p:nvSpPr>
        <p:spPr>
          <a:xfrm rot="0">
            <a:off x="11669225" y="4387674"/>
            <a:ext cx="4934277" cy="1875078"/>
          </a:xfrm>
          <a:prstGeom prst="rect">
            <a:avLst/>
          </a:prstGeom>
        </p:spPr>
        <p:txBody>
          <a:bodyPr anchor="t" rtlCol="false" tIns="0" lIns="0" bIns="0" rIns="0">
            <a:spAutoFit/>
          </a:bodyPr>
          <a:lstStyle/>
          <a:p>
            <a:pPr algn="l">
              <a:lnSpc>
                <a:spcPts val="5012"/>
              </a:lnSpc>
            </a:pPr>
            <a:r>
              <a:rPr lang="en-US" sz="3856" b="true">
                <a:solidFill>
                  <a:srgbClr val="645135"/>
                </a:solidFill>
                <a:latin typeface="Be Vietnam Ultra-Bold"/>
                <a:ea typeface="Be Vietnam Ultra-Bold"/>
                <a:cs typeface="Be Vietnam Ultra-Bold"/>
                <a:sym typeface="Be Vietnam Ultra-Bold"/>
              </a:rPr>
              <a:t>So sánh và đánh giá </a:t>
            </a:r>
            <a:r>
              <a:rPr lang="en-US" sz="3856" b="true">
                <a:solidFill>
                  <a:srgbClr val="645135"/>
                </a:solidFill>
                <a:latin typeface="Be Vietnam Ultra-Bold"/>
                <a:ea typeface="Be Vietnam Ultra-Bold"/>
                <a:cs typeface="Be Vietnam Ultra-Bold"/>
                <a:sym typeface="Be Vietnam Ultra-Bold"/>
              </a:rPr>
              <a:t>mô hình (Model Benchmarking)</a:t>
            </a:r>
          </a:p>
        </p:txBody>
      </p:sp>
      <p:sp>
        <p:nvSpPr>
          <p:cNvPr name="TextBox 34" id="34"/>
          <p:cNvSpPr txBox="true"/>
          <p:nvPr/>
        </p:nvSpPr>
        <p:spPr>
          <a:xfrm rot="0">
            <a:off x="7218151" y="7611606"/>
            <a:ext cx="5770372" cy="617778"/>
          </a:xfrm>
          <a:prstGeom prst="rect">
            <a:avLst/>
          </a:prstGeom>
        </p:spPr>
        <p:txBody>
          <a:bodyPr anchor="t" rtlCol="false" tIns="0" lIns="0" bIns="0" rIns="0">
            <a:spAutoFit/>
          </a:bodyPr>
          <a:lstStyle/>
          <a:p>
            <a:pPr algn="l">
              <a:lnSpc>
                <a:spcPts val="5012"/>
              </a:lnSpc>
            </a:pPr>
            <a:r>
              <a:rPr lang="en-US" sz="3856" b="true">
                <a:solidFill>
                  <a:srgbClr val="645135"/>
                </a:solidFill>
                <a:latin typeface="Be Vietnam Ultra-Bold"/>
                <a:ea typeface="Be Vietnam Ultra-Bold"/>
                <a:cs typeface="Be Vietnam Ultra-Bold"/>
                <a:sym typeface="Be Vietnam Ultra-Bold"/>
              </a:rPr>
              <a:t>UI</a:t>
            </a:r>
            <a:r>
              <a:rPr lang="en-US" sz="3856" b="true">
                <a:solidFill>
                  <a:srgbClr val="645135"/>
                </a:solidFill>
                <a:latin typeface="Be Vietnam Ultra-Bold"/>
                <a:ea typeface="Be Vietnam Ultra-Bold"/>
                <a:cs typeface="Be Vietnam Ultra-Bold"/>
                <a:sym typeface="Be Vietnam Ultra-Bold"/>
              </a:rPr>
              <a:t> &amp; Business Value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sp>
        <p:nvSpPr>
          <p:cNvPr name="Freeform 3" id="3"/>
          <p:cNvSpPr/>
          <p:nvPr/>
        </p:nvSpPr>
        <p:spPr>
          <a:xfrm flipH="false" flipV="false" rot="-5400000">
            <a:off x="3645148" y="-1729790"/>
            <a:ext cx="10997703" cy="13746580"/>
          </a:xfrm>
          <a:custGeom>
            <a:avLst/>
            <a:gdLst/>
            <a:ahLst/>
            <a:cxnLst/>
            <a:rect r="r" b="b" t="t" l="l"/>
            <a:pathLst>
              <a:path h="13746580" w="10997703">
                <a:moveTo>
                  <a:pt x="0" y="0"/>
                </a:moveTo>
                <a:lnTo>
                  <a:pt x="10997704" y="0"/>
                </a:lnTo>
                <a:lnTo>
                  <a:pt x="10997704" y="13746580"/>
                </a:lnTo>
                <a:lnTo>
                  <a:pt x="0" y="13746580"/>
                </a:lnTo>
                <a:lnTo>
                  <a:pt x="0" y="0"/>
                </a:lnTo>
                <a:close/>
              </a:path>
            </a:pathLst>
          </a:custGeom>
          <a:blipFill>
            <a:blip r:embed="rId3"/>
            <a:stretch>
              <a:fillRect l="-8824" t="-16518" r="-8824" b="-16518"/>
            </a:stretch>
          </a:blipFill>
        </p:spPr>
      </p:sp>
      <p:sp>
        <p:nvSpPr>
          <p:cNvPr name="Freeform 4" id="4"/>
          <p:cNvSpPr/>
          <p:nvPr/>
        </p:nvSpPr>
        <p:spPr>
          <a:xfrm flipH="false" flipV="false" rot="0">
            <a:off x="7987593" y="-160719"/>
            <a:ext cx="10690155" cy="6481678"/>
          </a:xfrm>
          <a:custGeom>
            <a:avLst/>
            <a:gdLst/>
            <a:ahLst/>
            <a:cxnLst/>
            <a:rect r="r" b="b" t="t" l="l"/>
            <a:pathLst>
              <a:path h="6481678" w="10690155">
                <a:moveTo>
                  <a:pt x="0" y="0"/>
                </a:moveTo>
                <a:lnTo>
                  <a:pt x="10690155" y="0"/>
                </a:lnTo>
                <a:lnTo>
                  <a:pt x="10690155" y="6481678"/>
                </a:lnTo>
                <a:lnTo>
                  <a:pt x="0" y="6481678"/>
                </a:lnTo>
                <a:lnTo>
                  <a:pt x="0" y="0"/>
                </a:lnTo>
                <a:close/>
              </a:path>
            </a:pathLst>
          </a:custGeom>
          <a:blipFill>
            <a:blip r:embed="rId4"/>
            <a:stretch>
              <a:fillRect l="-1850" t="0" r="0" b="0"/>
            </a:stretch>
          </a:blipFill>
        </p:spPr>
      </p:sp>
      <p:grpSp>
        <p:nvGrpSpPr>
          <p:cNvPr name="Group 5" id="5"/>
          <p:cNvGrpSpPr/>
          <p:nvPr/>
        </p:nvGrpSpPr>
        <p:grpSpPr>
          <a:xfrm rot="0">
            <a:off x="2965966" y="5143500"/>
            <a:ext cx="1897136" cy="1897136"/>
            <a:chOff x="0" y="0"/>
            <a:chExt cx="2529515" cy="2529515"/>
          </a:xfrm>
        </p:grpSpPr>
        <p:grpSp>
          <p:nvGrpSpPr>
            <p:cNvPr name="Group 6" id="6"/>
            <p:cNvGrpSpPr/>
            <p:nvPr/>
          </p:nvGrpSpPr>
          <p:grpSpPr>
            <a:xfrm rot="0">
              <a:off x="0" y="0"/>
              <a:ext cx="2529515" cy="2529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4945" y="114945"/>
              <a:ext cx="2299624" cy="22996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3616081" y="5453117"/>
            <a:ext cx="12104091" cy="3089313"/>
          </a:xfrm>
          <a:prstGeom prst="rect">
            <a:avLst/>
          </a:prstGeom>
        </p:spPr>
        <p:txBody>
          <a:bodyPr anchor="t" rtlCol="false" tIns="0" lIns="0" bIns="0" rIns="0">
            <a:spAutoFit/>
          </a:bodyPr>
          <a:lstStyle/>
          <a:p>
            <a:pPr algn="ctr">
              <a:lnSpc>
                <a:spcPts val="12346"/>
              </a:lnSpc>
            </a:pPr>
            <a:r>
              <a:rPr lang="en-US" sz="9497" b="true">
                <a:solidFill>
                  <a:srgbClr val="645135"/>
                </a:solidFill>
                <a:latin typeface="Be Vietnam Ultra-Bold"/>
                <a:ea typeface="Be Vietnam Ultra-Bold"/>
                <a:cs typeface="Be Vietnam Ultra-Bold"/>
                <a:sym typeface="Be Vietnam Ultra-Bold"/>
              </a:rPr>
              <a:t>Phân</a:t>
            </a:r>
            <a:r>
              <a:rPr lang="en-US" b="true" sz="9497">
                <a:solidFill>
                  <a:srgbClr val="645135"/>
                </a:solidFill>
                <a:latin typeface="Be Vietnam Ultra-Bold"/>
                <a:ea typeface="Be Vietnam Ultra-Bold"/>
                <a:cs typeface="Be Vietnam Ultra-Bold"/>
                <a:sym typeface="Be Vietnam Ultra-Bold"/>
              </a:rPr>
              <a:t> tích PCA </a:t>
            </a:r>
          </a:p>
          <a:p>
            <a:pPr algn="ctr">
              <a:lnSpc>
                <a:spcPts val="12346"/>
              </a:lnSpc>
            </a:pPr>
            <a:r>
              <a:rPr lang="en-US" b="true" sz="9497">
                <a:solidFill>
                  <a:srgbClr val="645135"/>
                </a:solidFill>
                <a:latin typeface="Be Vietnam Ultra-Bold"/>
                <a:ea typeface="Be Vietnam Ultra-Bold"/>
                <a:cs typeface="Be Vietnam Ultra-Bold"/>
                <a:sym typeface="Be Vietnam Ultra-Bold"/>
              </a:rPr>
              <a:t>và K-Means</a:t>
            </a:r>
          </a:p>
        </p:txBody>
      </p:sp>
      <p:sp>
        <p:nvSpPr>
          <p:cNvPr name="TextBox 13" id="13"/>
          <p:cNvSpPr txBox="true"/>
          <p:nvPr/>
        </p:nvSpPr>
        <p:spPr>
          <a:xfrm rot="0">
            <a:off x="2965966" y="5104582"/>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01</a:t>
            </a:r>
          </a:p>
        </p:txBody>
      </p:sp>
      <p:sp>
        <p:nvSpPr>
          <p:cNvPr name="Freeform 14" id="14"/>
          <p:cNvSpPr/>
          <p:nvPr/>
        </p:nvSpPr>
        <p:spPr>
          <a:xfrm flipH="false" flipV="false" rot="0">
            <a:off x="849225" y="0"/>
            <a:ext cx="4233483" cy="4938592"/>
          </a:xfrm>
          <a:custGeom>
            <a:avLst/>
            <a:gdLst/>
            <a:ahLst/>
            <a:cxnLst/>
            <a:rect r="r" b="b" t="t" l="l"/>
            <a:pathLst>
              <a:path h="4938592" w="4233483">
                <a:moveTo>
                  <a:pt x="0" y="0"/>
                </a:moveTo>
                <a:lnTo>
                  <a:pt x="4233483" y="0"/>
                </a:lnTo>
                <a:lnTo>
                  <a:pt x="4233483" y="4938592"/>
                </a:lnTo>
                <a:lnTo>
                  <a:pt x="0" y="4938592"/>
                </a:lnTo>
                <a:lnTo>
                  <a:pt x="0" y="0"/>
                </a:lnTo>
                <a:close/>
              </a:path>
            </a:pathLst>
          </a:custGeom>
          <a:blipFill>
            <a:blip r:embed="rId5"/>
            <a:stretch>
              <a:fillRect l="0" t="0" r="-90711" b="-9384"/>
            </a:stretch>
          </a:blipFill>
        </p:spPr>
      </p:sp>
    </p:spTree>
  </p:cSld>
  <p:clrMapOvr>
    <a:masterClrMapping/>
  </p:clrMapOvr>
  <p:transition spd="slow">
    <p:push dir="u"/>
  </p:transition>
</p:sld>
</file>

<file path=ppt/slides/slide4.xml><?xml version="1.0" encoding="utf-8"?>
<p:sld xmlns:p="http://schemas.openxmlformats.org/presentationml/2006/main" xmlns:a="http://schemas.openxmlformats.org/drawingml/2006/main">
  <p:cSld>
    <p:bg>
      <p:bgPr>
        <a:solidFill>
          <a:srgbClr val="F4F0E8"/>
        </a:solidFill>
      </p:bgPr>
    </p:bg>
    <p:spTree>
      <p:nvGrpSpPr>
        <p:cNvPr id="1" name=""/>
        <p:cNvGrpSpPr/>
        <p:nvPr/>
      </p:nvGrpSpPr>
      <p:grpSpPr>
        <a:xfrm>
          <a:off x="0" y="0"/>
          <a:ext cx="0" cy="0"/>
          <a:chOff x="0" y="0"/>
          <a:chExt cx="0" cy="0"/>
        </a:xfrm>
      </p:grpSpPr>
      <p:sp>
        <p:nvSpPr>
          <p:cNvPr name="TextBox 2" id="2"/>
          <p:cNvSpPr txBox="true"/>
          <p:nvPr/>
        </p:nvSpPr>
        <p:spPr>
          <a:xfrm rot="0">
            <a:off x="952500" y="762000"/>
            <a:ext cx="16383000" cy="605790"/>
          </a:xfrm>
          <a:prstGeom prst="rect">
            <a:avLst/>
          </a:prstGeom>
        </p:spPr>
        <p:txBody>
          <a:bodyPr anchor="t" rtlCol="false" tIns="0" lIns="0" bIns="0" rIns="0">
            <a:spAutoFit/>
          </a:bodyPr>
          <a:lstStyle/>
          <a:p>
            <a:pPr algn="l">
              <a:lnSpc>
                <a:spcPts val="4680"/>
              </a:lnSpc>
            </a:pPr>
            <a:r>
              <a:rPr lang="en-US" sz="4500" b="true">
                <a:solidFill>
                  <a:srgbClr val="1355B8"/>
                </a:solidFill>
                <a:latin typeface="Montserrat Bold"/>
                <a:ea typeface="Montserrat Bold"/>
                <a:cs typeface="Montserrat Bold"/>
                <a:sym typeface="Montserrat Bold"/>
              </a:rPr>
              <a:t>Lý do lựa chọn số lượng thành phần chính (PCA)</a:t>
            </a:r>
          </a:p>
        </p:txBody>
      </p:sp>
      <p:sp>
        <p:nvSpPr>
          <p:cNvPr name="TextBox 3" id="3"/>
          <p:cNvSpPr txBox="true"/>
          <p:nvPr/>
        </p:nvSpPr>
        <p:spPr>
          <a:xfrm rot="0">
            <a:off x="1627381" y="2362374"/>
            <a:ext cx="15033237" cy="5212081"/>
          </a:xfrm>
          <a:prstGeom prst="rect">
            <a:avLst/>
          </a:prstGeom>
        </p:spPr>
        <p:txBody>
          <a:bodyPr anchor="t" rtlCol="false" tIns="0" lIns="0" bIns="0" rIns="0">
            <a:spAutoFit/>
          </a:bodyPr>
          <a:lstStyle/>
          <a:p>
            <a:pPr algn="just">
              <a:lnSpc>
                <a:spcPts val="4589"/>
              </a:lnSpc>
            </a:pPr>
            <a:r>
              <a:rPr lang="en-US" sz="3399">
                <a:solidFill>
                  <a:srgbClr val="102A33"/>
                </a:solidFill>
                <a:latin typeface="Open Sans"/>
                <a:ea typeface="Open Sans"/>
                <a:cs typeface="Open Sans"/>
                <a:sym typeface="Open Sans"/>
              </a:rPr>
              <a:t>- Dữ liệu ban đầu gồm 5 thuộc tính: price, rating, views, add_to_cart, purchase.</a:t>
            </a:r>
          </a:p>
          <a:p>
            <a:pPr algn="just">
              <a:lnSpc>
                <a:spcPts val="4589"/>
              </a:lnSpc>
            </a:pPr>
          </a:p>
          <a:p>
            <a:pPr algn="just">
              <a:lnSpc>
                <a:spcPts val="4589"/>
              </a:lnSpc>
            </a:pPr>
            <a:r>
              <a:rPr lang="en-US" sz="3399">
                <a:solidFill>
                  <a:srgbClr val="102A33"/>
                </a:solidFill>
                <a:latin typeface="Open Sans"/>
                <a:ea typeface="Open Sans"/>
                <a:cs typeface="Open Sans"/>
                <a:sym typeface="Open Sans"/>
              </a:rPr>
              <a:t>- </a:t>
            </a:r>
            <a:r>
              <a:rPr lang="en-US" sz="3399">
                <a:solidFill>
                  <a:srgbClr val="102A33"/>
                </a:solidFill>
                <a:latin typeface="Open Sans"/>
                <a:ea typeface="Open Sans"/>
                <a:cs typeface="Open Sans"/>
                <a:sym typeface="Open Sans"/>
              </a:rPr>
              <a:t>Sau khi chuẩn hóa bằng StandardScaler(), tiến hành PCA để giảm chiều dữ liệu.</a:t>
            </a:r>
          </a:p>
          <a:p>
            <a:pPr algn="just">
              <a:lnSpc>
                <a:spcPts val="4589"/>
              </a:lnSpc>
            </a:pPr>
          </a:p>
          <a:p>
            <a:pPr algn="just">
              <a:lnSpc>
                <a:spcPts val="4589"/>
              </a:lnSpc>
            </a:pPr>
            <a:r>
              <a:rPr lang="en-US" sz="3399">
                <a:solidFill>
                  <a:srgbClr val="102A33"/>
                </a:solidFill>
                <a:latin typeface="Open Sans"/>
                <a:ea typeface="Open Sans"/>
                <a:cs typeface="Open Sans"/>
                <a:sym typeface="Open Sans"/>
              </a:rPr>
              <a:t>- </a:t>
            </a:r>
            <a:r>
              <a:rPr lang="en-US" sz="3399">
                <a:solidFill>
                  <a:srgbClr val="102A33"/>
                </a:solidFill>
                <a:latin typeface="Open Sans"/>
                <a:ea typeface="Open Sans"/>
                <a:cs typeface="Open Sans"/>
                <a:sym typeface="Open Sans"/>
              </a:rPr>
              <a:t>Kết quả cho thấy 3 thành phần chính đầu tiên (PC1, PC2, PC3) giữ lại 94,58% phương sai của dữ liệu, nằm trong ngưỡng yêu cầu (85–95%).</a:t>
            </a:r>
          </a:p>
          <a:p>
            <a:pPr algn="just">
              <a:lnSpc>
                <a:spcPts val="4589"/>
              </a:lnSpc>
            </a:pPr>
          </a:p>
        </p:txBody>
      </p:sp>
      <p:sp>
        <p:nvSpPr>
          <p:cNvPr name="TextBox 4" id="4"/>
          <p:cNvSpPr txBox="true"/>
          <p:nvPr/>
        </p:nvSpPr>
        <p:spPr>
          <a:xfrm rot="0">
            <a:off x="1627381" y="7532369"/>
            <a:ext cx="14816010" cy="1725931"/>
          </a:xfrm>
          <a:prstGeom prst="rect">
            <a:avLst/>
          </a:prstGeom>
        </p:spPr>
        <p:txBody>
          <a:bodyPr anchor="t" rtlCol="false" tIns="0" lIns="0" bIns="0" rIns="0">
            <a:spAutoFit/>
          </a:bodyPr>
          <a:lstStyle/>
          <a:p>
            <a:pPr algn="just">
              <a:lnSpc>
                <a:spcPts val="4589"/>
              </a:lnSpc>
            </a:pPr>
            <a:r>
              <a:rPr lang="en-US" b="true" sz="3399" i="true">
                <a:solidFill>
                  <a:srgbClr val="102A33"/>
                </a:solidFill>
                <a:latin typeface="Open Sans Bold Italics"/>
                <a:ea typeface="Open Sans Bold Italics"/>
                <a:cs typeface="Open Sans Bold Italics"/>
                <a:sym typeface="Open Sans Bold Italics"/>
              </a:rPr>
              <a:t>⟶ Vì vậy, nhóm chọn 3 components để vừa giảm chiều dữ liệu, vừa đảm bảo giữ lại thông tin quan trọng.</a:t>
            </a:r>
          </a:p>
          <a:p>
            <a:pPr algn="just">
              <a:lnSpc>
                <a:spcPts val="4589"/>
              </a:lnSpc>
            </a:pPr>
          </a:p>
        </p:txBody>
      </p:sp>
    </p:spTree>
  </p:cSld>
  <p:clrMapOvr>
    <a:masterClrMapping/>
  </p:clrMapOvr>
  <p:transition spd="slow">
    <p:push dir="u"/>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sp>
        <p:nvSpPr>
          <p:cNvPr name="TextBox 2" id="2"/>
          <p:cNvSpPr txBox="true"/>
          <p:nvPr/>
        </p:nvSpPr>
        <p:spPr>
          <a:xfrm rot="0">
            <a:off x="952500" y="752475"/>
            <a:ext cx="16383000" cy="593217"/>
          </a:xfrm>
          <a:prstGeom prst="rect">
            <a:avLst/>
          </a:prstGeom>
        </p:spPr>
        <p:txBody>
          <a:bodyPr anchor="t" rtlCol="false" tIns="0" lIns="0" bIns="0" rIns="0">
            <a:spAutoFit/>
          </a:bodyPr>
          <a:lstStyle/>
          <a:p>
            <a:pPr algn="l">
              <a:lnSpc>
                <a:spcPts val="4524"/>
              </a:lnSpc>
            </a:pPr>
            <a:r>
              <a:rPr lang="en-US" sz="4350" b="true">
                <a:solidFill>
                  <a:srgbClr val="102A33"/>
                </a:solidFill>
                <a:latin typeface="Montserrat Bold"/>
                <a:ea typeface="Montserrat Bold"/>
                <a:cs typeface="Montserrat Bold"/>
                <a:sym typeface="Montserrat Bold"/>
              </a:rPr>
              <a:t>PCA: 5 biến → 3 thành phần chính</a:t>
            </a:r>
          </a:p>
        </p:txBody>
      </p:sp>
      <p:sp>
        <p:nvSpPr>
          <p:cNvPr name="TextBox 3" id="3"/>
          <p:cNvSpPr txBox="true"/>
          <p:nvPr/>
        </p:nvSpPr>
        <p:spPr>
          <a:xfrm rot="0">
            <a:off x="952500" y="2895600"/>
            <a:ext cx="5143500" cy="1208532"/>
          </a:xfrm>
          <a:prstGeom prst="rect">
            <a:avLst/>
          </a:prstGeom>
        </p:spPr>
        <p:txBody>
          <a:bodyPr anchor="t" rtlCol="false" tIns="0" lIns="0" bIns="0" rIns="0">
            <a:spAutoFit/>
          </a:bodyPr>
          <a:lstStyle/>
          <a:p>
            <a:pPr algn="l">
              <a:lnSpc>
                <a:spcPts val="9204"/>
              </a:lnSpc>
            </a:pPr>
            <a:r>
              <a:rPr lang="en-US" sz="8850" b="true">
                <a:solidFill>
                  <a:srgbClr val="102A33"/>
                </a:solidFill>
                <a:latin typeface="Montserrat Bold"/>
                <a:ea typeface="Montserrat Bold"/>
                <a:cs typeface="Montserrat Bold"/>
                <a:sym typeface="Montserrat Bold"/>
              </a:rPr>
              <a:t>94.58%</a:t>
            </a:r>
          </a:p>
        </p:txBody>
      </p:sp>
      <p:sp>
        <p:nvSpPr>
          <p:cNvPr name="TextBox 4" id="4"/>
          <p:cNvSpPr txBox="true"/>
          <p:nvPr/>
        </p:nvSpPr>
        <p:spPr>
          <a:xfrm rot="0">
            <a:off x="952500" y="4067175"/>
            <a:ext cx="4953000" cy="366713"/>
          </a:xfrm>
          <a:prstGeom prst="rect">
            <a:avLst/>
          </a:prstGeom>
        </p:spPr>
        <p:txBody>
          <a:bodyPr anchor="t" rtlCol="false" tIns="0" lIns="0" bIns="0" rIns="0">
            <a:spAutoFit/>
          </a:bodyPr>
          <a:lstStyle/>
          <a:p>
            <a:pPr algn="l">
              <a:lnSpc>
                <a:spcPts val="3037"/>
              </a:lnSpc>
            </a:pPr>
            <a:r>
              <a:rPr lang="en-US" sz="2250">
                <a:solidFill>
                  <a:srgbClr val="102A33"/>
                </a:solidFill>
                <a:latin typeface="Open Sans"/>
                <a:ea typeface="Open Sans"/>
                <a:cs typeface="Open Sans"/>
                <a:sym typeface="Open Sans"/>
              </a:rPr>
              <a:t>phương sai được giữ lại với PC1–PC3</a:t>
            </a:r>
          </a:p>
        </p:txBody>
      </p:sp>
      <p:sp>
        <p:nvSpPr>
          <p:cNvPr name="TextBox 5" id="5"/>
          <p:cNvSpPr txBox="true"/>
          <p:nvPr/>
        </p:nvSpPr>
        <p:spPr>
          <a:xfrm rot="0">
            <a:off x="952500" y="5857875"/>
            <a:ext cx="4953000" cy="538163"/>
          </a:xfrm>
          <a:prstGeom prst="rect">
            <a:avLst/>
          </a:prstGeom>
        </p:spPr>
        <p:txBody>
          <a:bodyPr anchor="t" rtlCol="false" tIns="0" lIns="0" bIns="0" rIns="0">
            <a:spAutoFit/>
          </a:bodyPr>
          <a:lstStyle/>
          <a:p>
            <a:pPr algn="l">
              <a:lnSpc>
                <a:spcPts val="4387"/>
              </a:lnSpc>
            </a:pPr>
            <a:r>
              <a:rPr lang="en-US" sz="3249">
                <a:solidFill>
                  <a:srgbClr val="102A33"/>
                </a:solidFill>
                <a:latin typeface="Open Sans"/>
                <a:ea typeface="Open Sans"/>
                <a:cs typeface="Open Sans"/>
                <a:sym typeface="Open Sans"/>
              </a:rPr>
              <a:t>01  Chuẩn hóa</a:t>
            </a:r>
          </a:p>
        </p:txBody>
      </p:sp>
      <p:sp>
        <p:nvSpPr>
          <p:cNvPr name="TextBox 6" id="6"/>
          <p:cNvSpPr txBox="true"/>
          <p:nvPr/>
        </p:nvSpPr>
        <p:spPr>
          <a:xfrm rot="0">
            <a:off x="952500" y="6524625"/>
            <a:ext cx="4953000" cy="538163"/>
          </a:xfrm>
          <a:prstGeom prst="rect">
            <a:avLst/>
          </a:prstGeom>
        </p:spPr>
        <p:txBody>
          <a:bodyPr anchor="t" rtlCol="false" tIns="0" lIns="0" bIns="0" rIns="0">
            <a:spAutoFit/>
          </a:bodyPr>
          <a:lstStyle/>
          <a:p>
            <a:pPr algn="l">
              <a:lnSpc>
                <a:spcPts val="4387"/>
              </a:lnSpc>
            </a:pPr>
            <a:r>
              <a:rPr lang="en-US" sz="3249">
                <a:solidFill>
                  <a:srgbClr val="102A33"/>
                </a:solidFill>
                <a:latin typeface="Open Sans"/>
                <a:ea typeface="Open Sans"/>
                <a:cs typeface="Open Sans"/>
                <a:sym typeface="Open Sans"/>
              </a:rPr>
              <a:t>02  Chiếu lên trục chính</a:t>
            </a:r>
          </a:p>
        </p:txBody>
      </p:sp>
      <p:sp>
        <p:nvSpPr>
          <p:cNvPr name="TextBox 7" id="7"/>
          <p:cNvSpPr txBox="true"/>
          <p:nvPr/>
        </p:nvSpPr>
        <p:spPr>
          <a:xfrm rot="0">
            <a:off x="952500" y="7191375"/>
            <a:ext cx="4953000" cy="538163"/>
          </a:xfrm>
          <a:prstGeom prst="rect">
            <a:avLst/>
          </a:prstGeom>
        </p:spPr>
        <p:txBody>
          <a:bodyPr anchor="t" rtlCol="false" tIns="0" lIns="0" bIns="0" rIns="0">
            <a:spAutoFit/>
          </a:bodyPr>
          <a:lstStyle/>
          <a:p>
            <a:pPr algn="l">
              <a:lnSpc>
                <a:spcPts val="4387"/>
              </a:lnSpc>
            </a:pPr>
            <a:r>
              <a:rPr lang="en-US" sz="3249">
                <a:solidFill>
                  <a:srgbClr val="102A33"/>
                </a:solidFill>
                <a:latin typeface="Open Sans"/>
                <a:ea typeface="Open Sans"/>
                <a:cs typeface="Open Sans"/>
                <a:sym typeface="Open Sans"/>
              </a:rPr>
              <a:t>03  Giữ 3 PC</a:t>
            </a:r>
          </a:p>
        </p:txBody>
      </p:sp>
      <p:pic>
        <p:nvPicPr>
          <p:cNvPr name="Picture 8" id="8"/>
          <p:cNvPicPr>
            <a:picLocks noChangeAspect="true"/>
          </p:cNvPicPr>
          <p:nvPr/>
        </p:nvPicPr>
        <p:blipFill>
          <a:blip r:embed="rId2"/>
          <a:stretch>
            <a:fillRect/>
          </a:stretch>
        </p:blipFill>
        <p:spPr>
          <a:xfrm rot="0">
            <a:off x="6366228" y="1501787"/>
            <a:ext cx="11842045" cy="8140676"/>
          </a:xfrm>
          <a:prstGeom prst="rect">
            <a:avLst/>
          </a:prstGeom>
        </p:spPr>
      </p:pic>
      <p:grpSp>
        <p:nvGrpSpPr>
          <p:cNvPr name="Group 9" id="9"/>
          <p:cNvGrpSpPr/>
          <p:nvPr/>
        </p:nvGrpSpPr>
        <p:grpSpPr>
          <a:xfrm rot="0">
            <a:off x="11120481" y="8982075"/>
            <a:ext cx="3429000" cy="552450"/>
            <a:chOff x="0" y="0"/>
            <a:chExt cx="4572000" cy="736600"/>
          </a:xfrm>
        </p:grpSpPr>
        <p:sp>
          <p:nvSpPr>
            <p:cNvPr name="Freeform 10" id="10"/>
            <p:cNvSpPr/>
            <p:nvPr/>
          </p:nvSpPr>
          <p:spPr>
            <a:xfrm flipH="false" flipV="false" rot="0">
              <a:off x="0" y="0"/>
              <a:ext cx="4572000" cy="736600"/>
            </a:xfrm>
            <a:custGeom>
              <a:avLst/>
              <a:gdLst/>
              <a:ahLst/>
              <a:cxnLst/>
              <a:rect r="r" b="b" t="t" l="l"/>
              <a:pathLst>
                <a:path h="736600" w="4572000">
                  <a:moveTo>
                    <a:pt x="98778" y="0"/>
                  </a:moveTo>
                  <a:lnTo>
                    <a:pt x="4473222" y="0"/>
                  </a:lnTo>
                  <a:cubicBezTo>
                    <a:pt x="4527776" y="0"/>
                    <a:pt x="4572000" y="44224"/>
                    <a:pt x="4572000" y="98778"/>
                  </a:cubicBezTo>
                  <a:lnTo>
                    <a:pt x="4572000" y="637822"/>
                  </a:lnTo>
                  <a:cubicBezTo>
                    <a:pt x="4572000" y="692376"/>
                    <a:pt x="4527776" y="736600"/>
                    <a:pt x="4473222" y="736600"/>
                  </a:cubicBezTo>
                  <a:lnTo>
                    <a:pt x="98778" y="736600"/>
                  </a:lnTo>
                  <a:cubicBezTo>
                    <a:pt x="44224" y="736600"/>
                    <a:pt x="0" y="692376"/>
                    <a:pt x="0" y="637822"/>
                  </a:cubicBezTo>
                  <a:lnTo>
                    <a:pt x="0" y="98778"/>
                  </a:lnTo>
                  <a:cubicBezTo>
                    <a:pt x="0" y="44224"/>
                    <a:pt x="44224" y="0"/>
                    <a:pt x="98778" y="0"/>
                  </a:cubicBezTo>
                  <a:close/>
                </a:path>
              </a:pathLst>
            </a:custGeom>
            <a:solidFill>
              <a:srgbClr val="FF7959"/>
            </a:solidFill>
            <a:ln cap="rnd">
              <a:noFill/>
              <a:prstDash val="solid"/>
              <a:round/>
            </a:ln>
          </p:spPr>
        </p:sp>
        <p:sp>
          <p:nvSpPr>
            <p:cNvPr name="TextBox 11" id="11"/>
            <p:cNvSpPr txBox="true"/>
            <p:nvPr/>
          </p:nvSpPr>
          <p:spPr>
            <a:xfrm>
              <a:off x="0" y="-28575"/>
              <a:ext cx="4572000" cy="765175"/>
            </a:xfrm>
            <a:prstGeom prst="rect">
              <a:avLst/>
            </a:prstGeom>
          </p:spPr>
          <p:txBody>
            <a:bodyPr anchor="ctr" rtlCol="false" tIns="50800" lIns="50800" bIns="50800" rIns="50800"/>
            <a:lstStyle/>
            <a:p>
              <a:pPr algn="ctr">
                <a:lnSpc>
                  <a:spcPts val="2100"/>
                </a:lnSpc>
              </a:pPr>
              <a:r>
                <a:rPr lang="en-US" sz="1500" b="true">
                  <a:solidFill>
                    <a:srgbClr val="FFFFFF"/>
                  </a:solidFill>
                  <a:latin typeface="IBM Plex Mono Bold"/>
                  <a:ea typeface="IBM Plex Mono Bold"/>
                  <a:cs typeface="IBM Plex Mono Bold"/>
                  <a:sym typeface="IBM Plex Mono Bold"/>
                </a:rPr>
                <a:t>VÙNG YÊU CẦU 85–95%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sp>
        <p:nvSpPr>
          <p:cNvPr name="Freeform 2" id="2"/>
          <p:cNvSpPr/>
          <p:nvPr/>
        </p:nvSpPr>
        <p:spPr>
          <a:xfrm flipH="false" flipV="false" rot="0">
            <a:off x="745528" y="2467630"/>
            <a:ext cx="12567991" cy="6806633"/>
          </a:xfrm>
          <a:custGeom>
            <a:avLst/>
            <a:gdLst/>
            <a:ahLst/>
            <a:cxnLst/>
            <a:rect r="r" b="b" t="t" l="l"/>
            <a:pathLst>
              <a:path h="6806633" w="12567991">
                <a:moveTo>
                  <a:pt x="0" y="0"/>
                </a:moveTo>
                <a:lnTo>
                  <a:pt x="12567991" y="0"/>
                </a:lnTo>
                <a:lnTo>
                  <a:pt x="12567991" y="6806633"/>
                </a:lnTo>
                <a:lnTo>
                  <a:pt x="0" y="6806633"/>
                </a:lnTo>
                <a:lnTo>
                  <a:pt x="0" y="0"/>
                </a:lnTo>
                <a:close/>
              </a:path>
            </a:pathLst>
          </a:custGeom>
          <a:blipFill>
            <a:blip r:embed="rId2"/>
            <a:stretch>
              <a:fillRect l="0" t="0" r="0" b="0"/>
            </a:stretch>
          </a:blipFill>
        </p:spPr>
      </p:sp>
      <p:sp>
        <p:nvSpPr>
          <p:cNvPr name="TextBox 3" id="3"/>
          <p:cNvSpPr txBox="true"/>
          <p:nvPr/>
        </p:nvSpPr>
        <p:spPr>
          <a:xfrm rot="0">
            <a:off x="3000390" y="575310"/>
            <a:ext cx="11272712" cy="605790"/>
          </a:xfrm>
          <a:prstGeom prst="rect">
            <a:avLst/>
          </a:prstGeom>
        </p:spPr>
        <p:txBody>
          <a:bodyPr anchor="t" rtlCol="false" tIns="0" lIns="0" bIns="0" rIns="0">
            <a:spAutoFit/>
          </a:bodyPr>
          <a:lstStyle/>
          <a:p>
            <a:pPr algn="l">
              <a:lnSpc>
                <a:spcPts val="4680"/>
              </a:lnSpc>
            </a:pPr>
            <a:r>
              <a:rPr lang="en-US" sz="4500" b="true">
                <a:solidFill>
                  <a:srgbClr val="1355B8"/>
                </a:solidFill>
                <a:latin typeface="Montserrat Bold"/>
                <a:ea typeface="Montserrat Bold"/>
                <a:cs typeface="Montserrat Bold"/>
                <a:sym typeface="Montserrat Bold"/>
              </a:rPr>
              <a:t>Lý do lựa chọn số cụm k=4 (K-Means)</a:t>
            </a:r>
          </a:p>
        </p:txBody>
      </p:sp>
      <p:sp>
        <p:nvSpPr>
          <p:cNvPr name="TextBox 4" id="4"/>
          <p:cNvSpPr txBox="true"/>
          <p:nvPr/>
        </p:nvSpPr>
        <p:spPr>
          <a:xfrm rot="0">
            <a:off x="13652475" y="3761838"/>
            <a:ext cx="3951295" cy="2132878"/>
          </a:xfrm>
          <a:prstGeom prst="rect">
            <a:avLst/>
          </a:prstGeom>
        </p:spPr>
        <p:txBody>
          <a:bodyPr anchor="t" rtlCol="false" tIns="0" lIns="0" bIns="0" rIns="0">
            <a:spAutoFit/>
          </a:bodyPr>
          <a:lstStyle/>
          <a:p>
            <a:pPr algn="just">
              <a:lnSpc>
                <a:spcPts val="4236"/>
              </a:lnSpc>
            </a:pPr>
            <a:r>
              <a:rPr lang="en-US" sz="3138">
                <a:solidFill>
                  <a:srgbClr val="102A33"/>
                </a:solidFill>
                <a:latin typeface="Open Sans"/>
                <a:ea typeface="Open Sans"/>
                <a:cs typeface="Open Sans"/>
                <a:sym typeface="Open Sans"/>
              </a:rPr>
              <a:t>Đường cong WCSS giảm mạnh từ k=2 xuống k=4, sau đó phẳng dần </a:t>
            </a:r>
          </a:p>
        </p:txBody>
      </p:sp>
      <p:sp>
        <p:nvSpPr>
          <p:cNvPr name="TextBox 5" id="5"/>
          <p:cNvSpPr txBox="true"/>
          <p:nvPr/>
        </p:nvSpPr>
        <p:spPr>
          <a:xfrm rot="0">
            <a:off x="745528" y="1778497"/>
            <a:ext cx="5911650" cy="460384"/>
          </a:xfrm>
          <a:prstGeom prst="rect">
            <a:avLst/>
          </a:prstGeom>
        </p:spPr>
        <p:txBody>
          <a:bodyPr anchor="t" rtlCol="false" tIns="0" lIns="0" bIns="0" rIns="0">
            <a:spAutoFit/>
          </a:bodyPr>
          <a:lstStyle/>
          <a:p>
            <a:pPr algn="l">
              <a:lnSpc>
                <a:spcPts val="3503"/>
              </a:lnSpc>
            </a:pPr>
            <a:r>
              <a:rPr lang="en-US" sz="3368" b="true">
                <a:solidFill>
                  <a:srgbClr val="102A33"/>
                </a:solidFill>
                <a:latin typeface="Montserrat Bold"/>
                <a:ea typeface="Montserrat Bold"/>
                <a:cs typeface="Montserrat Bold"/>
                <a:sym typeface="Montserrat Bold"/>
              </a:rPr>
              <a:t>Sử dụng Elbow Method</a:t>
            </a:r>
          </a:p>
        </p:txBody>
      </p:sp>
      <p:sp>
        <p:nvSpPr>
          <p:cNvPr name="TextBox 6" id="6"/>
          <p:cNvSpPr txBox="true"/>
          <p:nvPr/>
        </p:nvSpPr>
        <p:spPr>
          <a:xfrm rot="0">
            <a:off x="13652475" y="6397806"/>
            <a:ext cx="3951295" cy="1060362"/>
          </a:xfrm>
          <a:prstGeom prst="rect">
            <a:avLst/>
          </a:prstGeom>
        </p:spPr>
        <p:txBody>
          <a:bodyPr anchor="t" rtlCol="false" tIns="0" lIns="0" bIns="0" rIns="0">
            <a:spAutoFit/>
          </a:bodyPr>
          <a:lstStyle/>
          <a:p>
            <a:pPr algn="just">
              <a:lnSpc>
                <a:spcPts val="4236"/>
              </a:lnSpc>
            </a:pPr>
            <a:r>
              <a:rPr lang="en-US" b="true" sz="3138" i="true">
                <a:solidFill>
                  <a:srgbClr val="102A33"/>
                </a:solidFill>
                <a:latin typeface="Open Sans Bold Italics"/>
                <a:ea typeface="Open Sans Bold Italics"/>
                <a:cs typeface="Open Sans Bold Italics"/>
                <a:sym typeface="Open Sans Bold Italics"/>
              </a:rPr>
              <a:t>⟶ k=4 là điểm “gãy khuỷu” hợp lý.</a:t>
            </a:r>
          </a:p>
        </p:txBody>
      </p:sp>
      <p:pic>
        <p:nvPicPr>
          <p:cNvPr name="Picture 7" id="7" descr="purple animated blob"/>
          <p:cNvPicPr>
            <a:picLocks noChangeAspect="true"/>
          </p:cNvPicPr>
          <p:nvPr/>
        </p:nvPicPr>
        <p:blipFill>
          <a:blip r:embed="rId3">
            <a:alphaModFix amt="50000"/>
          </a:blip>
          <a:srcRect l="0" t="0" r="0" b="0"/>
          <a:stretch>
            <a:fillRect/>
          </a:stretch>
        </p:blipFill>
        <p:spPr>
          <a:xfrm flipH="false" flipV="false" rot="9720163">
            <a:off x="13603633" y="-3319053"/>
            <a:ext cx="8333039" cy="8318316"/>
          </a:xfrm>
          <a:prstGeom prst="rect">
            <a:avLst/>
          </a:prstGeom>
        </p:spPr>
      </p:pic>
      <p:pic>
        <p:nvPicPr>
          <p:cNvPr name="Picture 8" id="8" descr="purple animated blob"/>
          <p:cNvPicPr>
            <a:picLocks noChangeAspect="true"/>
          </p:cNvPicPr>
          <p:nvPr/>
        </p:nvPicPr>
        <p:blipFill>
          <a:blip r:embed="rId3">
            <a:alphaModFix amt="50000"/>
          </a:blip>
          <a:srcRect l="0" t="0" r="0" b="0"/>
          <a:stretch>
            <a:fillRect/>
          </a:stretch>
        </p:blipFill>
        <p:spPr>
          <a:xfrm flipH="false" flipV="false" rot="9720163">
            <a:off x="-1032367" y="8271672"/>
            <a:ext cx="8558641" cy="854352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grpSp>
        <p:nvGrpSpPr>
          <p:cNvPr name="Group 2" id="2"/>
          <p:cNvGrpSpPr/>
          <p:nvPr/>
        </p:nvGrpSpPr>
        <p:grpSpPr>
          <a:xfrm rot="0">
            <a:off x="7524750" y="9258300"/>
            <a:ext cx="3238500" cy="552450"/>
            <a:chOff x="0" y="0"/>
            <a:chExt cx="4318000" cy="736600"/>
          </a:xfrm>
        </p:grpSpPr>
        <p:sp>
          <p:nvSpPr>
            <p:cNvPr name="Freeform 3" id="3"/>
            <p:cNvSpPr/>
            <p:nvPr/>
          </p:nvSpPr>
          <p:spPr>
            <a:xfrm flipH="false" flipV="false" rot="0">
              <a:off x="0" y="0"/>
              <a:ext cx="4318000" cy="736600"/>
            </a:xfrm>
            <a:custGeom>
              <a:avLst/>
              <a:gdLst/>
              <a:ahLst/>
              <a:cxnLst/>
              <a:rect r="r" b="b" t="t" l="l"/>
              <a:pathLst>
                <a:path h="736600" w="4318000">
                  <a:moveTo>
                    <a:pt x="104588" y="0"/>
                  </a:moveTo>
                  <a:lnTo>
                    <a:pt x="4213412" y="0"/>
                  </a:lnTo>
                  <a:cubicBezTo>
                    <a:pt x="4271174" y="0"/>
                    <a:pt x="4318000" y="46826"/>
                    <a:pt x="4318000" y="104588"/>
                  </a:cubicBezTo>
                  <a:lnTo>
                    <a:pt x="4318000" y="632012"/>
                  </a:lnTo>
                  <a:cubicBezTo>
                    <a:pt x="4318000" y="689774"/>
                    <a:pt x="4271174" y="736600"/>
                    <a:pt x="4213412" y="736600"/>
                  </a:cubicBezTo>
                  <a:lnTo>
                    <a:pt x="104588" y="736600"/>
                  </a:lnTo>
                  <a:cubicBezTo>
                    <a:pt x="46826" y="736600"/>
                    <a:pt x="0" y="689774"/>
                    <a:pt x="0" y="632012"/>
                  </a:cubicBezTo>
                  <a:lnTo>
                    <a:pt x="0" y="104588"/>
                  </a:lnTo>
                  <a:cubicBezTo>
                    <a:pt x="0" y="46826"/>
                    <a:pt x="46826" y="0"/>
                    <a:pt x="104588" y="0"/>
                  </a:cubicBezTo>
                  <a:close/>
                </a:path>
              </a:pathLst>
            </a:custGeom>
            <a:solidFill>
              <a:srgbClr val="102A33"/>
            </a:solidFill>
            <a:ln cap="rnd">
              <a:noFill/>
              <a:prstDash val="solid"/>
              <a:round/>
            </a:ln>
          </p:spPr>
        </p:sp>
        <p:sp>
          <p:nvSpPr>
            <p:cNvPr name="TextBox 4" id="4"/>
            <p:cNvSpPr txBox="true"/>
            <p:nvPr/>
          </p:nvSpPr>
          <p:spPr>
            <a:xfrm>
              <a:off x="0" y="-28575"/>
              <a:ext cx="4318000" cy="765175"/>
            </a:xfrm>
            <a:prstGeom prst="rect">
              <a:avLst/>
            </a:prstGeom>
          </p:spPr>
          <p:txBody>
            <a:bodyPr anchor="ctr" rtlCol="false" tIns="50800" lIns="50800" bIns="50800" rIns="50800"/>
            <a:lstStyle/>
            <a:p>
              <a:pPr algn="ctr">
                <a:lnSpc>
                  <a:spcPts val="2100"/>
                </a:lnSpc>
              </a:pPr>
              <a:r>
                <a:rPr lang="en-US" sz="1500" b="true">
                  <a:solidFill>
                    <a:srgbClr val="FFFFFF"/>
                  </a:solidFill>
                  <a:latin typeface="IBM Plex Mono Bold"/>
                  <a:ea typeface="IBM Plex Mono Bold"/>
                  <a:cs typeface="IBM Plex Mono Bold"/>
                  <a:sym typeface="IBM Plex Mono Bold"/>
                </a:rPr>
                <a:t>CHỌN K = 4</a:t>
              </a:r>
            </a:p>
          </p:txBody>
        </p:sp>
      </p:grpSp>
      <p:sp>
        <p:nvSpPr>
          <p:cNvPr name="Freeform 5" id="5"/>
          <p:cNvSpPr/>
          <p:nvPr/>
        </p:nvSpPr>
        <p:spPr>
          <a:xfrm flipH="false" flipV="false" rot="0">
            <a:off x="6673268" y="1947697"/>
            <a:ext cx="11096264" cy="6128665"/>
          </a:xfrm>
          <a:custGeom>
            <a:avLst/>
            <a:gdLst/>
            <a:ahLst/>
            <a:cxnLst/>
            <a:rect r="r" b="b" t="t" l="l"/>
            <a:pathLst>
              <a:path h="6128665" w="11096264">
                <a:moveTo>
                  <a:pt x="0" y="0"/>
                </a:moveTo>
                <a:lnTo>
                  <a:pt x="11096264" y="0"/>
                </a:lnTo>
                <a:lnTo>
                  <a:pt x="11096264" y="6128665"/>
                </a:lnTo>
                <a:lnTo>
                  <a:pt x="0" y="6128665"/>
                </a:lnTo>
                <a:lnTo>
                  <a:pt x="0" y="0"/>
                </a:lnTo>
                <a:close/>
              </a:path>
            </a:pathLst>
          </a:custGeom>
          <a:blipFill>
            <a:blip r:embed="rId2"/>
            <a:stretch>
              <a:fillRect l="0" t="0" r="0" b="0"/>
            </a:stretch>
          </a:blipFill>
        </p:spPr>
      </p:sp>
      <p:sp>
        <p:nvSpPr>
          <p:cNvPr name="TextBox 6" id="6"/>
          <p:cNvSpPr txBox="true"/>
          <p:nvPr/>
        </p:nvSpPr>
        <p:spPr>
          <a:xfrm rot="0">
            <a:off x="6673268" y="823011"/>
            <a:ext cx="7826238" cy="459003"/>
          </a:xfrm>
          <a:prstGeom prst="rect">
            <a:avLst/>
          </a:prstGeom>
        </p:spPr>
        <p:txBody>
          <a:bodyPr anchor="t" rtlCol="false" tIns="0" lIns="0" bIns="0" rIns="0">
            <a:spAutoFit/>
          </a:bodyPr>
          <a:lstStyle/>
          <a:p>
            <a:pPr algn="l">
              <a:lnSpc>
                <a:spcPts val="3504"/>
              </a:lnSpc>
            </a:pPr>
            <a:r>
              <a:rPr lang="en-US" sz="3369" b="true">
                <a:solidFill>
                  <a:srgbClr val="102A33"/>
                </a:solidFill>
                <a:latin typeface="Montserrat Bold"/>
                <a:ea typeface="Montserrat Bold"/>
                <a:cs typeface="Montserrat Bold"/>
                <a:sym typeface="Montserrat Bold"/>
              </a:rPr>
              <a:t>Sử dụng Silhouette Score</a:t>
            </a:r>
          </a:p>
        </p:txBody>
      </p:sp>
      <p:sp>
        <p:nvSpPr>
          <p:cNvPr name="TextBox 7" id="7"/>
          <p:cNvSpPr txBox="true"/>
          <p:nvPr/>
        </p:nvSpPr>
        <p:spPr>
          <a:xfrm rot="0">
            <a:off x="757471" y="3200156"/>
            <a:ext cx="5359343" cy="2121408"/>
          </a:xfrm>
          <a:prstGeom prst="rect">
            <a:avLst/>
          </a:prstGeom>
        </p:spPr>
        <p:txBody>
          <a:bodyPr anchor="t" rtlCol="false" tIns="0" lIns="0" bIns="0" rIns="0">
            <a:spAutoFit/>
          </a:bodyPr>
          <a:lstStyle/>
          <a:p>
            <a:pPr algn="just">
              <a:lnSpc>
                <a:spcPts val="4239"/>
              </a:lnSpc>
            </a:pPr>
            <a:r>
              <a:rPr lang="en-US" sz="3140">
                <a:solidFill>
                  <a:srgbClr val="102A33"/>
                </a:solidFill>
                <a:latin typeface="Open Sans"/>
                <a:ea typeface="Open Sans"/>
                <a:cs typeface="Open Sans"/>
                <a:sym typeface="Open Sans"/>
              </a:rPr>
              <a:t>Dao động quanh mức ~0.8, không tăng đáng kể khi K &gt; 4 → xác nhận K=4 là số cụm tối ưu.</a:t>
            </a:r>
          </a:p>
        </p:txBody>
      </p:sp>
      <p:sp>
        <p:nvSpPr>
          <p:cNvPr name="TextBox 8" id="8"/>
          <p:cNvSpPr txBox="true"/>
          <p:nvPr/>
        </p:nvSpPr>
        <p:spPr>
          <a:xfrm rot="0">
            <a:off x="2098295" y="8695487"/>
            <a:ext cx="13470806" cy="563881"/>
          </a:xfrm>
          <a:prstGeom prst="rect">
            <a:avLst/>
          </a:prstGeom>
        </p:spPr>
        <p:txBody>
          <a:bodyPr anchor="t" rtlCol="false" tIns="0" lIns="0" bIns="0" rIns="0">
            <a:spAutoFit/>
          </a:bodyPr>
          <a:lstStyle/>
          <a:p>
            <a:pPr algn="just">
              <a:lnSpc>
                <a:spcPts val="4589"/>
              </a:lnSpc>
            </a:pPr>
            <a:r>
              <a:rPr lang="en-US" sz="3399" b="true">
                <a:solidFill>
                  <a:srgbClr val="102A33"/>
                </a:solidFill>
                <a:latin typeface="Open Sans Bold"/>
                <a:ea typeface="Open Sans Bold"/>
                <a:cs typeface="Open Sans Bold"/>
                <a:sym typeface="Open Sans Bold"/>
              </a:rPr>
              <a:t>⟶ Do đó, nhóm chọn 4 clusters để phân loại khách hàng</a:t>
            </a:r>
          </a:p>
        </p:txBody>
      </p:sp>
      <p:sp>
        <p:nvSpPr>
          <p:cNvPr name="TextBox 9" id="9"/>
          <p:cNvSpPr txBox="true"/>
          <p:nvPr/>
        </p:nvSpPr>
        <p:spPr>
          <a:xfrm rot="0">
            <a:off x="721818" y="5721669"/>
            <a:ext cx="5430649" cy="1054608"/>
          </a:xfrm>
          <a:prstGeom prst="rect">
            <a:avLst/>
          </a:prstGeom>
        </p:spPr>
        <p:txBody>
          <a:bodyPr anchor="t" rtlCol="false" tIns="0" lIns="0" bIns="0" rIns="0">
            <a:spAutoFit/>
          </a:bodyPr>
          <a:lstStyle/>
          <a:p>
            <a:pPr algn="just">
              <a:lnSpc>
                <a:spcPts val="4239"/>
              </a:lnSpc>
            </a:pPr>
            <a:r>
              <a:rPr lang="en-US" b="true" sz="3140" i="true">
                <a:solidFill>
                  <a:srgbClr val="102A33"/>
                </a:solidFill>
                <a:latin typeface="Open Sans Bold Italics"/>
                <a:ea typeface="Open Sans Bold Italics"/>
                <a:cs typeface="Open Sans Bold Italics"/>
                <a:sym typeface="Open Sans Bold Italics"/>
              </a:rPr>
              <a:t>⟶ Xác nhận k=4 là số cụm tối ưu.</a:t>
            </a:r>
          </a:p>
        </p:txBody>
      </p:sp>
      <p:pic>
        <p:nvPicPr>
          <p:cNvPr name="Picture 10" id="10" descr="purple animated blob"/>
          <p:cNvPicPr>
            <a:picLocks noChangeAspect="true"/>
          </p:cNvPicPr>
          <p:nvPr/>
        </p:nvPicPr>
        <p:blipFill>
          <a:blip r:embed="rId3">
            <a:alphaModFix amt="50000"/>
          </a:blip>
          <a:srcRect l="0" t="0" r="0" b="0"/>
          <a:stretch>
            <a:fillRect/>
          </a:stretch>
        </p:blipFill>
        <p:spPr>
          <a:xfrm flipH="false" flipV="false" rot="4652576">
            <a:off x="-3076483" y="-3826639"/>
            <a:ext cx="8558641" cy="8543520"/>
          </a:xfrm>
          <a:prstGeom prst="rect">
            <a:avLst/>
          </a:prstGeom>
        </p:spPr>
      </p:pic>
      <p:pic>
        <p:nvPicPr>
          <p:cNvPr name="Picture 11" id="11" descr="purple animated blob"/>
          <p:cNvPicPr>
            <a:picLocks noChangeAspect="true"/>
          </p:cNvPicPr>
          <p:nvPr/>
        </p:nvPicPr>
        <p:blipFill>
          <a:blip r:embed="rId3">
            <a:alphaModFix amt="50000"/>
          </a:blip>
          <a:srcRect l="0" t="0" r="0" b="0"/>
          <a:stretch>
            <a:fillRect/>
          </a:stretch>
        </p:blipFill>
        <p:spPr>
          <a:xfrm flipH="false" flipV="false" rot="6107512">
            <a:off x="15420992" y="6559511"/>
            <a:ext cx="8558641" cy="854352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p:cSld>
    <p:bg>
      <p:bgPr>
        <a:solidFill>
          <a:srgbClr val="F4F0E8"/>
        </a:solidFill>
      </p:bgPr>
    </p:bg>
    <p:spTree>
      <p:nvGrpSpPr>
        <p:cNvPr id="1" name=""/>
        <p:cNvGrpSpPr/>
        <p:nvPr/>
      </p:nvGrpSpPr>
      <p:grpSpPr>
        <a:xfrm>
          <a:off x="0" y="0"/>
          <a:ext cx="0" cy="0"/>
          <a:chOff x="0" y="0"/>
          <a:chExt cx="0" cy="0"/>
        </a:xfrm>
      </p:grpSpPr>
      <p:sp>
        <p:nvSpPr>
          <p:cNvPr name="TextBox 2" id="2"/>
          <p:cNvSpPr txBox="true"/>
          <p:nvPr/>
        </p:nvSpPr>
        <p:spPr>
          <a:xfrm rot="0">
            <a:off x="5899022" y="1026033"/>
            <a:ext cx="6489955"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Bốn cụm khách hàng</a:t>
            </a:r>
          </a:p>
        </p:txBody>
      </p:sp>
      <p:grpSp>
        <p:nvGrpSpPr>
          <p:cNvPr name="Group 3" id="3"/>
          <p:cNvGrpSpPr/>
          <p:nvPr/>
        </p:nvGrpSpPr>
        <p:grpSpPr>
          <a:xfrm rot="0">
            <a:off x="952500" y="2381250"/>
            <a:ext cx="7524750" cy="2639378"/>
            <a:chOff x="0" y="0"/>
            <a:chExt cx="10033000" cy="3519170"/>
          </a:xfrm>
        </p:grpSpPr>
        <p:grpSp>
          <p:nvGrpSpPr>
            <p:cNvPr name="Group 4" id="4"/>
            <p:cNvGrpSpPr/>
            <p:nvPr/>
          </p:nvGrpSpPr>
          <p:grpSpPr>
            <a:xfrm rot="0">
              <a:off x="0" y="0"/>
              <a:ext cx="10033000" cy="3519170"/>
              <a:chOff x="0" y="0"/>
              <a:chExt cx="10033000" cy="3519170"/>
            </a:xfrm>
          </p:grpSpPr>
          <p:sp>
            <p:nvSpPr>
              <p:cNvPr name="Freeform 5" id="5"/>
              <p:cNvSpPr/>
              <p:nvPr/>
            </p:nvSpPr>
            <p:spPr>
              <a:xfrm flipH="false" flipV="false" rot="0">
                <a:off x="0" y="0"/>
                <a:ext cx="10033000" cy="3519170"/>
              </a:xfrm>
              <a:custGeom>
                <a:avLst/>
                <a:gdLst/>
                <a:ahLst/>
                <a:cxnLst/>
                <a:rect r="r" b="b" t="t" l="l"/>
                <a:pathLst>
                  <a:path h="3519170" w="10033000">
                    <a:moveTo>
                      <a:pt x="0" y="0"/>
                    </a:moveTo>
                    <a:lnTo>
                      <a:pt x="10033000" y="0"/>
                    </a:lnTo>
                    <a:lnTo>
                      <a:pt x="10033000" y="3519170"/>
                    </a:lnTo>
                    <a:lnTo>
                      <a:pt x="0" y="3519170"/>
                    </a:lnTo>
                    <a:close/>
                  </a:path>
                </a:pathLst>
              </a:custGeom>
              <a:solidFill>
                <a:srgbClr val="FFFFFF"/>
              </a:solidFill>
              <a:ln w="28575" cap="sq">
                <a:solidFill>
                  <a:srgbClr val="6E7D80"/>
                </a:solidFill>
                <a:prstDash val="solid"/>
                <a:miter/>
              </a:ln>
            </p:spPr>
          </p:sp>
          <p:sp>
            <p:nvSpPr>
              <p:cNvPr name="TextBox 6" id="6"/>
              <p:cNvSpPr txBox="true"/>
              <p:nvPr/>
            </p:nvSpPr>
            <p:spPr>
              <a:xfrm>
                <a:off x="0" y="-38100"/>
                <a:ext cx="10033000" cy="355727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71500" y="462259"/>
              <a:ext cx="8890000" cy="524891"/>
            </a:xfrm>
            <a:prstGeom prst="rect">
              <a:avLst/>
            </a:prstGeom>
          </p:spPr>
          <p:txBody>
            <a:bodyPr anchor="t" rtlCol="false" tIns="0" lIns="0" bIns="0" rIns="0">
              <a:spAutoFit/>
            </a:bodyPr>
            <a:lstStyle/>
            <a:p>
              <a:pPr algn="l">
                <a:lnSpc>
                  <a:spcPts val="2964"/>
                </a:lnSpc>
              </a:pPr>
              <a:r>
                <a:rPr lang="en-US" sz="2850" b="true">
                  <a:solidFill>
                    <a:srgbClr val="102A33"/>
                  </a:solidFill>
                  <a:latin typeface="Montserrat Bold"/>
                  <a:ea typeface="Montserrat Bold"/>
                  <a:cs typeface="Montserrat Bold"/>
                  <a:sym typeface="Montserrat Bold"/>
                </a:rPr>
                <a:t>Cluster 0 - Ít tương tác</a:t>
              </a:r>
            </a:p>
          </p:txBody>
        </p:sp>
        <p:sp>
          <p:nvSpPr>
            <p:cNvPr name="TextBox 8" id="8"/>
            <p:cNvSpPr txBox="true"/>
            <p:nvPr/>
          </p:nvSpPr>
          <p:spPr>
            <a:xfrm rot="0">
              <a:off x="571500" y="1245870"/>
              <a:ext cx="8890000" cy="5137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views ↓  add_to_cart ↓  purchase ↓</a:t>
              </a:r>
            </a:p>
          </p:txBody>
        </p:sp>
      </p:grpSp>
      <p:grpSp>
        <p:nvGrpSpPr>
          <p:cNvPr name="Group 9" id="9"/>
          <p:cNvGrpSpPr/>
          <p:nvPr/>
        </p:nvGrpSpPr>
        <p:grpSpPr>
          <a:xfrm rot="0">
            <a:off x="9239250" y="2381250"/>
            <a:ext cx="7524750" cy="2639378"/>
            <a:chOff x="0" y="0"/>
            <a:chExt cx="10033000" cy="3519170"/>
          </a:xfrm>
        </p:grpSpPr>
        <p:grpSp>
          <p:nvGrpSpPr>
            <p:cNvPr name="Group 10" id="10"/>
            <p:cNvGrpSpPr/>
            <p:nvPr/>
          </p:nvGrpSpPr>
          <p:grpSpPr>
            <a:xfrm rot="0">
              <a:off x="0" y="0"/>
              <a:ext cx="10033000" cy="3519170"/>
              <a:chOff x="0" y="0"/>
              <a:chExt cx="10033000" cy="3519170"/>
            </a:xfrm>
          </p:grpSpPr>
          <p:sp>
            <p:nvSpPr>
              <p:cNvPr name="Freeform 11" id="11"/>
              <p:cNvSpPr/>
              <p:nvPr/>
            </p:nvSpPr>
            <p:spPr>
              <a:xfrm flipH="false" flipV="false" rot="0">
                <a:off x="0" y="0"/>
                <a:ext cx="10033000" cy="3519170"/>
              </a:xfrm>
              <a:custGeom>
                <a:avLst/>
                <a:gdLst/>
                <a:ahLst/>
                <a:cxnLst/>
                <a:rect r="r" b="b" t="t" l="l"/>
                <a:pathLst>
                  <a:path h="3519170" w="10033000">
                    <a:moveTo>
                      <a:pt x="0" y="0"/>
                    </a:moveTo>
                    <a:lnTo>
                      <a:pt x="10033000" y="0"/>
                    </a:lnTo>
                    <a:lnTo>
                      <a:pt x="10033000" y="3519170"/>
                    </a:lnTo>
                    <a:lnTo>
                      <a:pt x="0" y="3519170"/>
                    </a:lnTo>
                    <a:close/>
                  </a:path>
                </a:pathLst>
              </a:custGeom>
              <a:solidFill>
                <a:srgbClr val="FFFFFF"/>
              </a:solidFill>
              <a:ln w="28575" cap="sq">
                <a:solidFill>
                  <a:srgbClr val="3F7CAC"/>
                </a:solidFill>
                <a:prstDash val="solid"/>
                <a:miter/>
              </a:ln>
            </p:spPr>
          </p:sp>
          <p:sp>
            <p:nvSpPr>
              <p:cNvPr name="TextBox 12" id="12"/>
              <p:cNvSpPr txBox="true"/>
              <p:nvPr/>
            </p:nvSpPr>
            <p:spPr>
              <a:xfrm>
                <a:off x="0" y="-38100"/>
                <a:ext cx="10033000" cy="355727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571500" y="507078"/>
              <a:ext cx="8890000" cy="524891"/>
            </a:xfrm>
            <a:prstGeom prst="rect">
              <a:avLst/>
            </a:prstGeom>
          </p:spPr>
          <p:txBody>
            <a:bodyPr anchor="t" rtlCol="false" tIns="0" lIns="0" bIns="0" rIns="0">
              <a:spAutoFit/>
            </a:bodyPr>
            <a:lstStyle/>
            <a:p>
              <a:pPr algn="l">
                <a:lnSpc>
                  <a:spcPts val="2964"/>
                </a:lnSpc>
              </a:pPr>
              <a:r>
                <a:rPr lang="en-US" sz="2850" b="true">
                  <a:solidFill>
                    <a:srgbClr val="102A33"/>
                  </a:solidFill>
                  <a:latin typeface="Montserrat Bold"/>
                  <a:ea typeface="Montserrat Bold"/>
                  <a:cs typeface="Montserrat Bold"/>
                  <a:sym typeface="Montserrat Bold"/>
                </a:rPr>
                <a:t>Cluster 1 - Quan tâm, ít mua</a:t>
              </a:r>
            </a:p>
          </p:txBody>
        </p:sp>
        <p:sp>
          <p:nvSpPr>
            <p:cNvPr name="TextBox 14" id="14"/>
            <p:cNvSpPr txBox="true"/>
            <p:nvPr/>
          </p:nvSpPr>
          <p:spPr>
            <a:xfrm rot="0">
              <a:off x="571500" y="1245870"/>
              <a:ext cx="8890000" cy="5137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views ↑  add_to_cart ↑  purchase ↓</a:t>
              </a:r>
            </a:p>
          </p:txBody>
        </p:sp>
      </p:grpSp>
      <p:grpSp>
        <p:nvGrpSpPr>
          <p:cNvPr name="Group 15" id="15"/>
          <p:cNvGrpSpPr/>
          <p:nvPr/>
        </p:nvGrpSpPr>
        <p:grpSpPr>
          <a:xfrm rot="0">
            <a:off x="952500" y="5715000"/>
            <a:ext cx="7524750" cy="2639378"/>
            <a:chOff x="0" y="0"/>
            <a:chExt cx="10033000" cy="3519170"/>
          </a:xfrm>
        </p:grpSpPr>
        <p:grpSp>
          <p:nvGrpSpPr>
            <p:cNvPr name="Group 16" id="16"/>
            <p:cNvGrpSpPr/>
            <p:nvPr/>
          </p:nvGrpSpPr>
          <p:grpSpPr>
            <a:xfrm rot="0">
              <a:off x="0" y="0"/>
              <a:ext cx="10033000" cy="3519170"/>
              <a:chOff x="0" y="0"/>
              <a:chExt cx="10033000" cy="3519170"/>
            </a:xfrm>
          </p:grpSpPr>
          <p:sp>
            <p:nvSpPr>
              <p:cNvPr name="Freeform 17" id="17"/>
              <p:cNvSpPr/>
              <p:nvPr/>
            </p:nvSpPr>
            <p:spPr>
              <a:xfrm flipH="false" flipV="false" rot="0">
                <a:off x="0" y="0"/>
                <a:ext cx="10033000" cy="3519170"/>
              </a:xfrm>
              <a:custGeom>
                <a:avLst/>
                <a:gdLst/>
                <a:ahLst/>
                <a:cxnLst/>
                <a:rect r="r" b="b" t="t" l="l"/>
                <a:pathLst>
                  <a:path h="3519170" w="10033000">
                    <a:moveTo>
                      <a:pt x="0" y="0"/>
                    </a:moveTo>
                    <a:lnTo>
                      <a:pt x="10033000" y="0"/>
                    </a:lnTo>
                    <a:lnTo>
                      <a:pt x="10033000" y="3519170"/>
                    </a:lnTo>
                    <a:lnTo>
                      <a:pt x="0" y="3519170"/>
                    </a:lnTo>
                    <a:close/>
                  </a:path>
                </a:pathLst>
              </a:custGeom>
              <a:solidFill>
                <a:srgbClr val="FFFFFF"/>
              </a:solidFill>
              <a:ln w="28575" cap="sq">
                <a:solidFill>
                  <a:srgbClr val="13B8A6"/>
                </a:solidFill>
                <a:prstDash val="solid"/>
                <a:miter/>
              </a:ln>
            </p:spPr>
          </p:sp>
          <p:sp>
            <p:nvSpPr>
              <p:cNvPr name="TextBox 18" id="18"/>
              <p:cNvSpPr txBox="true"/>
              <p:nvPr/>
            </p:nvSpPr>
            <p:spPr>
              <a:xfrm>
                <a:off x="0" y="-38100"/>
                <a:ext cx="10033000" cy="355727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571500" y="507078"/>
              <a:ext cx="8890000" cy="524891"/>
            </a:xfrm>
            <a:prstGeom prst="rect">
              <a:avLst/>
            </a:prstGeom>
          </p:spPr>
          <p:txBody>
            <a:bodyPr anchor="t" rtlCol="false" tIns="0" lIns="0" bIns="0" rIns="0">
              <a:spAutoFit/>
            </a:bodyPr>
            <a:lstStyle/>
            <a:p>
              <a:pPr algn="l">
                <a:lnSpc>
                  <a:spcPts val="2964"/>
                </a:lnSpc>
              </a:pPr>
              <a:r>
                <a:rPr lang="en-US" sz="2850" b="true">
                  <a:solidFill>
                    <a:srgbClr val="102A33"/>
                  </a:solidFill>
                  <a:latin typeface="Montserrat Bold"/>
                  <a:ea typeface="Montserrat Bold"/>
                  <a:cs typeface="Montserrat Bold"/>
                  <a:sym typeface="Montserrat Bold"/>
                </a:rPr>
                <a:t>Cluster 2 - VIP</a:t>
              </a:r>
            </a:p>
          </p:txBody>
        </p:sp>
        <p:sp>
          <p:nvSpPr>
            <p:cNvPr name="TextBox 20" id="20"/>
            <p:cNvSpPr txBox="true"/>
            <p:nvPr/>
          </p:nvSpPr>
          <p:spPr>
            <a:xfrm rot="0">
              <a:off x="571500" y="1245870"/>
              <a:ext cx="8890000" cy="5137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purchase ↑  giá trị đơn hàng ↑</a:t>
              </a:r>
            </a:p>
          </p:txBody>
        </p:sp>
      </p:grpSp>
      <p:grpSp>
        <p:nvGrpSpPr>
          <p:cNvPr name="Group 21" id="21"/>
          <p:cNvGrpSpPr/>
          <p:nvPr/>
        </p:nvGrpSpPr>
        <p:grpSpPr>
          <a:xfrm rot="0">
            <a:off x="9239250" y="5715000"/>
            <a:ext cx="7524750" cy="2639378"/>
            <a:chOff x="0" y="0"/>
            <a:chExt cx="10033000" cy="3519170"/>
          </a:xfrm>
        </p:grpSpPr>
        <p:grpSp>
          <p:nvGrpSpPr>
            <p:cNvPr name="Group 22" id="22"/>
            <p:cNvGrpSpPr/>
            <p:nvPr/>
          </p:nvGrpSpPr>
          <p:grpSpPr>
            <a:xfrm rot="0">
              <a:off x="0" y="0"/>
              <a:ext cx="10033000" cy="3519170"/>
              <a:chOff x="0" y="0"/>
              <a:chExt cx="10033000" cy="3519170"/>
            </a:xfrm>
          </p:grpSpPr>
          <p:sp>
            <p:nvSpPr>
              <p:cNvPr name="Freeform 23" id="23"/>
              <p:cNvSpPr/>
              <p:nvPr/>
            </p:nvSpPr>
            <p:spPr>
              <a:xfrm flipH="false" flipV="false" rot="0">
                <a:off x="0" y="0"/>
                <a:ext cx="10033000" cy="3519170"/>
              </a:xfrm>
              <a:custGeom>
                <a:avLst/>
                <a:gdLst/>
                <a:ahLst/>
                <a:cxnLst/>
                <a:rect r="r" b="b" t="t" l="l"/>
                <a:pathLst>
                  <a:path h="3519170" w="10033000">
                    <a:moveTo>
                      <a:pt x="0" y="0"/>
                    </a:moveTo>
                    <a:lnTo>
                      <a:pt x="10033000" y="0"/>
                    </a:lnTo>
                    <a:lnTo>
                      <a:pt x="10033000" y="3519170"/>
                    </a:lnTo>
                    <a:lnTo>
                      <a:pt x="0" y="3519170"/>
                    </a:lnTo>
                    <a:close/>
                  </a:path>
                </a:pathLst>
              </a:custGeom>
              <a:solidFill>
                <a:srgbClr val="FFFFFF"/>
              </a:solidFill>
              <a:ln w="28575" cap="sq">
                <a:solidFill>
                  <a:srgbClr val="FF7959"/>
                </a:solidFill>
                <a:prstDash val="solid"/>
                <a:miter/>
              </a:ln>
            </p:spPr>
          </p:sp>
          <p:sp>
            <p:nvSpPr>
              <p:cNvPr name="TextBox 24" id="24"/>
              <p:cNvSpPr txBox="true"/>
              <p:nvPr/>
            </p:nvSpPr>
            <p:spPr>
              <a:xfrm>
                <a:off x="0" y="-38100"/>
                <a:ext cx="10033000" cy="355727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571500" y="507078"/>
              <a:ext cx="8890000" cy="524891"/>
            </a:xfrm>
            <a:prstGeom prst="rect">
              <a:avLst/>
            </a:prstGeom>
          </p:spPr>
          <p:txBody>
            <a:bodyPr anchor="t" rtlCol="false" tIns="0" lIns="0" bIns="0" rIns="0">
              <a:spAutoFit/>
            </a:bodyPr>
            <a:lstStyle/>
            <a:p>
              <a:pPr algn="l">
                <a:lnSpc>
                  <a:spcPts val="2964"/>
                </a:lnSpc>
              </a:pPr>
              <a:r>
                <a:rPr lang="en-US" sz="2850" b="true">
                  <a:solidFill>
                    <a:srgbClr val="102A33"/>
                  </a:solidFill>
                  <a:latin typeface="Montserrat Bold"/>
                  <a:ea typeface="Montserrat Bold"/>
                  <a:cs typeface="Montserrat Bold"/>
                  <a:sym typeface="Montserrat Bold"/>
                </a:rPr>
                <a:t>Cluster 3 - Bỏ giỏ</a:t>
              </a:r>
            </a:p>
          </p:txBody>
        </p:sp>
        <p:sp>
          <p:nvSpPr>
            <p:cNvPr name="TextBox 26" id="26"/>
            <p:cNvSpPr txBox="true"/>
            <p:nvPr/>
          </p:nvSpPr>
          <p:spPr>
            <a:xfrm rot="0">
              <a:off x="571500" y="1245870"/>
              <a:ext cx="8890000" cy="5137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add_to_cart ↑  purchase ↓</a:t>
              </a:r>
            </a:p>
          </p:txBody>
        </p:sp>
      </p:grpSp>
      <p:sp>
        <p:nvSpPr>
          <p:cNvPr name="TextBox 27" id="27"/>
          <p:cNvSpPr txBox="true"/>
          <p:nvPr/>
        </p:nvSpPr>
        <p:spPr>
          <a:xfrm rot="0">
            <a:off x="1381125" y="3995838"/>
            <a:ext cx="6667500" cy="392430"/>
          </a:xfrm>
          <a:prstGeom prst="rect">
            <a:avLst/>
          </a:prstGeom>
        </p:spPr>
        <p:txBody>
          <a:bodyPr anchor="t" rtlCol="false" tIns="0" lIns="0" bIns="0" rIns="0">
            <a:spAutoFit/>
          </a:bodyPr>
          <a:lstStyle/>
          <a:p>
            <a:pPr algn="l">
              <a:lnSpc>
                <a:spcPts val="3240"/>
              </a:lnSpc>
            </a:pPr>
            <a:r>
              <a:rPr lang="en-US" sz="2400" i="true">
                <a:solidFill>
                  <a:srgbClr val="102A33"/>
                </a:solidFill>
                <a:latin typeface="Open Sans Italics"/>
                <a:ea typeface="Open Sans Italics"/>
                <a:cs typeface="Open Sans Italics"/>
                <a:sym typeface="Open Sans Italics"/>
              </a:rPr>
              <a:t>→ nhóm tiềm năng, cần marketing kích cầu</a:t>
            </a:r>
          </a:p>
        </p:txBody>
      </p:sp>
      <p:sp>
        <p:nvSpPr>
          <p:cNvPr name="TextBox 28" id="28"/>
          <p:cNvSpPr txBox="true"/>
          <p:nvPr/>
        </p:nvSpPr>
        <p:spPr>
          <a:xfrm rot="0">
            <a:off x="9667875" y="3972978"/>
            <a:ext cx="6667500" cy="802005"/>
          </a:xfrm>
          <a:prstGeom prst="rect">
            <a:avLst/>
          </a:prstGeom>
        </p:spPr>
        <p:txBody>
          <a:bodyPr anchor="t" rtlCol="false" tIns="0" lIns="0" bIns="0" rIns="0">
            <a:spAutoFit/>
          </a:bodyPr>
          <a:lstStyle/>
          <a:p>
            <a:pPr algn="l">
              <a:lnSpc>
                <a:spcPts val="3240"/>
              </a:lnSpc>
            </a:pPr>
            <a:r>
              <a:rPr lang="en-US" sz="2400" i="true">
                <a:solidFill>
                  <a:srgbClr val="102A33"/>
                </a:solidFill>
                <a:latin typeface="Open Sans Italics"/>
                <a:ea typeface="Open Sans Italics"/>
                <a:cs typeface="Open Sans Italics"/>
                <a:sym typeface="Open Sans Italics"/>
              </a:rPr>
              <a:t>→ cần tối ưu chuyển đổi (khuyến mãi, giảm phí ship, nhắc giỏ hàng)</a:t>
            </a:r>
          </a:p>
        </p:txBody>
      </p:sp>
      <p:sp>
        <p:nvSpPr>
          <p:cNvPr name="TextBox 29" id="29"/>
          <p:cNvSpPr txBox="true"/>
          <p:nvPr/>
        </p:nvSpPr>
        <p:spPr>
          <a:xfrm rot="0">
            <a:off x="1381125" y="7310437"/>
            <a:ext cx="6667500" cy="802005"/>
          </a:xfrm>
          <a:prstGeom prst="rect">
            <a:avLst/>
          </a:prstGeom>
        </p:spPr>
        <p:txBody>
          <a:bodyPr anchor="t" rtlCol="false" tIns="0" lIns="0" bIns="0" rIns="0">
            <a:spAutoFit/>
          </a:bodyPr>
          <a:lstStyle/>
          <a:p>
            <a:pPr algn="l">
              <a:lnSpc>
                <a:spcPts val="3240"/>
              </a:lnSpc>
            </a:pPr>
            <a:r>
              <a:rPr lang="en-US" sz="2400" i="true">
                <a:solidFill>
                  <a:srgbClr val="102A33"/>
                </a:solidFill>
                <a:latin typeface="Open Sans Italics"/>
                <a:ea typeface="Open Sans Italics"/>
                <a:cs typeface="Open Sans Italics"/>
                <a:sym typeface="Open Sans Italics"/>
              </a:rPr>
              <a:t>→ nhóm trung thành, cần chăm sóc đặc biệt, upsell, giữ chân</a:t>
            </a:r>
          </a:p>
        </p:txBody>
      </p:sp>
      <p:sp>
        <p:nvSpPr>
          <p:cNvPr name="TextBox 30" id="30"/>
          <p:cNvSpPr txBox="true"/>
          <p:nvPr/>
        </p:nvSpPr>
        <p:spPr>
          <a:xfrm rot="0">
            <a:off x="9667875" y="7333297"/>
            <a:ext cx="6667500" cy="392430"/>
          </a:xfrm>
          <a:prstGeom prst="rect">
            <a:avLst/>
          </a:prstGeom>
        </p:spPr>
        <p:txBody>
          <a:bodyPr anchor="t" rtlCol="false" tIns="0" lIns="0" bIns="0" rIns="0">
            <a:spAutoFit/>
          </a:bodyPr>
          <a:lstStyle/>
          <a:p>
            <a:pPr algn="l">
              <a:lnSpc>
                <a:spcPts val="3240"/>
              </a:lnSpc>
            </a:pPr>
            <a:r>
              <a:rPr lang="en-US" sz="2400" i="true">
                <a:solidFill>
                  <a:srgbClr val="102A33"/>
                </a:solidFill>
                <a:latin typeface="Open Sans Italics"/>
                <a:ea typeface="Open Sans Italics"/>
                <a:cs typeface="Open Sans Italics"/>
                <a:sym typeface="Open Sans Italics"/>
              </a:rPr>
              <a:t>→ cần flash sale, voucher để giảm tỷ lệ bỏ giỏ</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0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286263" y="1484898"/>
          <a:ext cx="15563075" cy="6562725"/>
        </p:xfrm>
        <a:graphic>
          <a:graphicData uri="http://schemas.openxmlformats.org/drawingml/2006/table">
            <a:tbl>
              <a:tblPr/>
              <a:tblGrid>
                <a:gridCol w="3748101"/>
                <a:gridCol w="5975259"/>
                <a:gridCol w="5839714"/>
              </a:tblGrid>
              <a:tr h="1980148">
                <a:tc>
                  <a:txBody>
                    <a:bodyPr anchor="t" rtlCol="false"/>
                    <a:lstStyle/>
                    <a:p>
                      <a:pPr algn="ctr">
                        <a:lnSpc>
                          <a:spcPts val="3220"/>
                        </a:lnSpc>
                        <a:defRPr/>
                      </a:pPr>
                      <a:r>
                        <a:rPr lang="en-US" sz="2300" b="true">
                          <a:solidFill>
                            <a:srgbClr val="081C24"/>
                          </a:solidFill>
                          <a:latin typeface="Montserrat Bold"/>
                          <a:ea typeface="Montserrat Bold"/>
                          <a:cs typeface="Montserrat Bold"/>
                          <a:sym typeface="Montserrat Bold"/>
                        </a:rPr>
                        <a:t>Tiêu chí</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220"/>
                        </a:lnSpc>
                        <a:defRPr/>
                      </a:pPr>
                      <a:r>
                        <a:rPr lang="en-US" sz="2300" b="true">
                          <a:solidFill>
                            <a:srgbClr val="1B343D"/>
                          </a:solidFill>
                          <a:latin typeface="Montserrat Bold"/>
                          <a:ea typeface="Montserrat Bold"/>
                          <a:cs typeface="Montserrat Bold"/>
                          <a:sym typeface="Montserrat Bold"/>
                        </a:rPr>
                        <a:t>PCA + KMeans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220"/>
                        </a:lnSpc>
                        <a:defRPr/>
                      </a:pPr>
                      <a:endParaRPr lang="en-US" sz="1100"/>
                    </a:p>
                    <a:p>
                      <a:pPr algn="ctr">
                        <a:lnSpc>
                          <a:spcPts val="3220"/>
                        </a:lnSpc>
                      </a:pPr>
                      <a:r>
                        <a:rPr lang="en-US" sz="2300" b="true">
                          <a:solidFill>
                            <a:srgbClr val="1B343D"/>
                          </a:solidFill>
                          <a:latin typeface="Montserrat Bold"/>
                          <a:ea typeface="Montserrat Bold"/>
                          <a:cs typeface="Montserrat Bold"/>
                          <a:sym typeface="Montserrat Bold"/>
                        </a:rPr>
                        <a:t>Original + KMeans</a:t>
                      </a:r>
                    </a:p>
                    <a:p>
                      <a:pPr algn="ctr">
                        <a:lnSpc>
                          <a:spcPts val="322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r>
              <a:tr h="989844">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Silhouette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0.793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0.763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126">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Hiệu quả phân cụm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Cao hơn, các cụm rõ ràng hơn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Thấp hơn, cụm chồng chéo nhiều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83803">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Ưu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Giảm chiều dữ liệu, loại bỏ nhiễu, tăng độ tách biệt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Giữ nguyên toàn bộ dữ liệu gốc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83803">
                <a:tc>
                  <a:txBody>
                    <a:bodyPr anchor="t" rtlCol="false"/>
                    <a:lstStyle/>
                    <a:p>
                      <a:pPr algn="ctr">
                        <a:lnSpc>
                          <a:spcPts val="3220"/>
                        </a:lnSpc>
                        <a:defRPr/>
                      </a:pPr>
                      <a:r>
                        <a:rPr lang="en-US" sz="2300" b="true">
                          <a:solidFill>
                            <a:srgbClr val="000000"/>
                          </a:solidFill>
                          <a:latin typeface="Montserrat Bold"/>
                          <a:ea typeface="Montserrat Bold"/>
                          <a:cs typeface="Montserrat Bold"/>
                          <a:sym typeface="Montserrat Bold"/>
                        </a:rPr>
                        <a:t>Nhược điểm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Mất một phần nhỏ thông tin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Dữ liệu phức tạp, khó phân cụm rõ ràng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876300" y="527728"/>
            <a:ext cx="16383000" cy="482726"/>
          </a:xfrm>
          <a:prstGeom prst="rect">
            <a:avLst/>
          </a:prstGeom>
        </p:spPr>
        <p:txBody>
          <a:bodyPr anchor="t" rtlCol="false" tIns="0" lIns="0" bIns="0" rIns="0">
            <a:spAutoFit/>
          </a:bodyPr>
          <a:lstStyle/>
          <a:p>
            <a:pPr algn="l">
              <a:lnSpc>
                <a:spcPts val="3743"/>
              </a:lnSpc>
            </a:pPr>
            <a:r>
              <a:rPr lang="en-US" sz="3599" b="true">
                <a:solidFill>
                  <a:srgbClr val="1355B8"/>
                </a:solidFill>
                <a:latin typeface="Montserrat Bold"/>
                <a:ea typeface="Montserrat Bold"/>
                <a:cs typeface="Montserrat Bold"/>
                <a:sym typeface="Montserrat Bold"/>
              </a:rPr>
              <a:t>Bảng so sánh hiệu quả phân cụm khi có dùng PCA và Original Data</a:t>
            </a:r>
          </a:p>
        </p:txBody>
      </p:sp>
      <p:sp>
        <p:nvSpPr>
          <p:cNvPr name="TextBox 4" id="4"/>
          <p:cNvSpPr txBox="true"/>
          <p:nvPr/>
        </p:nvSpPr>
        <p:spPr>
          <a:xfrm rot="0">
            <a:off x="1286263" y="8445868"/>
            <a:ext cx="15563075" cy="1036141"/>
          </a:xfrm>
          <a:prstGeom prst="rect">
            <a:avLst/>
          </a:prstGeom>
        </p:spPr>
        <p:txBody>
          <a:bodyPr anchor="t" rtlCol="false" tIns="0" lIns="0" bIns="0" rIns="0">
            <a:spAutoFit/>
          </a:bodyPr>
          <a:lstStyle/>
          <a:p>
            <a:pPr algn="l">
              <a:lnSpc>
                <a:spcPts val="4207"/>
              </a:lnSpc>
            </a:pPr>
            <a:r>
              <a:rPr lang="en-US" sz="2804" spc="-56" b="true">
                <a:solidFill>
                  <a:srgbClr val="1B414D"/>
                </a:solidFill>
                <a:latin typeface="Montaser Arabic Bold"/>
                <a:ea typeface="Montaser Arabic Bold"/>
                <a:cs typeface="Montaser Arabic Bold"/>
                <a:sym typeface="Montaser Arabic Bold"/>
              </a:rPr>
              <a:t>Kết luận:</a:t>
            </a:r>
            <a:r>
              <a:rPr lang="en-US" sz="2804" spc="-56">
                <a:solidFill>
                  <a:srgbClr val="1B414D"/>
                </a:solidFill>
                <a:latin typeface="Montaser Arabic"/>
                <a:ea typeface="Montaser Arabic"/>
                <a:cs typeface="Montaser Arabic"/>
                <a:sym typeface="Montaser Arabic"/>
              </a:rPr>
              <a:t> PCA giúp cải thiện chất lượng phân cụm, tăng độ tách biệt giữa các nhóm khách hàng, đồng thời giảm chiều dữ liệu từ 5 xuống 3, thuận lợi cho trực quan hóa và phân tích.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sp>
        <p:nvSpPr>
          <p:cNvPr name="Freeform 3" id="3"/>
          <p:cNvSpPr/>
          <p:nvPr/>
        </p:nvSpPr>
        <p:spPr>
          <a:xfrm flipH="false" flipV="false" rot="-5400000">
            <a:off x="3645148" y="-1729790"/>
            <a:ext cx="10997703" cy="13746580"/>
          </a:xfrm>
          <a:custGeom>
            <a:avLst/>
            <a:gdLst/>
            <a:ahLst/>
            <a:cxnLst/>
            <a:rect r="r" b="b" t="t" l="l"/>
            <a:pathLst>
              <a:path h="13746580" w="10997703">
                <a:moveTo>
                  <a:pt x="0" y="0"/>
                </a:moveTo>
                <a:lnTo>
                  <a:pt x="10997704" y="0"/>
                </a:lnTo>
                <a:lnTo>
                  <a:pt x="10997704" y="13746580"/>
                </a:lnTo>
                <a:lnTo>
                  <a:pt x="0" y="13746580"/>
                </a:lnTo>
                <a:lnTo>
                  <a:pt x="0" y="0"/>
                </a:lnTo>
                <a:close/>
              </a:path>
            </a:pathLst>
          </a:custGeom>
          <a:blipFill>
            <a:blip r:embed="rId3"/>
            <a:stretch>
              <a:fillRect l="-8824" t="-16518" r="-8824" b="-16518"/>
            </a:stretch>
          </a:blipFill>
        </p:spPr>
      </p:sp>
      <p:sp>
        <p:nvSpPr>
          <p:cNvPr name="Freeform 4" id="4"/>
          <p:cNvSpPr/>
          <p:nvPr/>
        </p:nvSpPr>
        <p:spPr>
          <a:xfrm flipH="false" flipV="false" rot="795065">
            <a:off x="9956" y="-3747140"/>
            <a:ext cx="11553464" cy="8216643"/>
          </a:xfrm>
          <a:custGeom>
            <a:avLst/>
            <a:gdLst/>
            <a:ahLst/>
            <a:cxnLst/>
            <a:rect r="r" b="b" t="t" l="l"/>
            <a:pathLst>
              <a:path h="8216643" w="11553464">
                <a:moveTo>
                  <a:pt x="0" y="0"/>
                </a:moveTo>
                <a:lnTo>
                  <a:pt x="11553464" y="0"/>
                </a:lnTo>
                <a:lnTo>
                  <a:pt x="11553464" y="8216643"/>
                </a:lnTo>
                <a:lnTo>
                  <a:pt x="0" y="8216643"/>
                </a:lnTo>
                <a:lnTo>
                  <a:pt x="0" y="0"/>
                </a:lnTo>
                <a:close/>
              </a:path>
            </a:pathLst>
          </a:custGeom>
          <a:blipFill>
            <a:blip r:embed="rId4"/>
            <a:stretch>
              <a:fillRect l="-10118" t="0" r="0" b="0"/>
            </a:stretch>
          </a:blipFill>
        </p:spPr>
      </p:sp>
      <p:grpSp>
        <p:nvGrpSpPr>
          <p:cNvPr name="Group 5" id="5"/>
          <p:cNvGrpSpPr/>
          <p:nvPr/>
        </p:nvGrpSpPr>
        <p:grpSpPr>
          <a:xfrm rot="0">
            <a:off x="13085708" y="2558169"/>
            <a:ext cx="1897136" cy="1897136"/>
            <a:chOff x="0" y="0"/>
            <a:chExt cx="2529515" cy="2529515"/>
          </a:xfrm>
        </p:grpSpPr>
        <p:grpSp>
          <p:nvGrpSpPr>
            <p:cNvPr name="Group 6" id="6"/>
            <p:cNvGrpSpPr/>
            <p:nvPr/>
          </p:nvGrpSpPr>
          <p:grpSpPr>
            <a:xfrm rot="0">
              <a:off x="0" y="0"/>
              <a:ext cx="2529515" cy="2529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4945" y="114945"/>
              <a:ext cx="2299624" cy="22996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2093698" y="5237280"/>
            <a:ext cx="14100605" cy="2478163"/>
          </a:xfrm>
          <a:prstGeom prst="rect">
            <a:avLst/>
          </a:prstGeom>
        </p:spPr>
        <p:txBody>
          <a:bodyPr anchor="t" rtlCol="false" tIns="0" lIns="0" bIns="0" rIns="0">
            <a:spAutoFit/>
          </a:bodyPr>
          <a:lstStyle/>
          <a:p>
            <a:pPr algn="ctr">
              <a:lnSpc>
                <a:spcPts val="9912"/>
              </a:lnSpc>
            </a:pPr>
            <a:r>
              <a:rPr lang="en-US" sz="7624" b="true">
                <a:solidFill>
                  <a:srgbClr val="645135"/>
                </a:solidFill>
                <a:latin typeface="Be Vietnam Ultra-Bold"/>
                <a:ea typeface="Be Vietnam Ultra-Bold"/>
                <a:cs typeface="Be Vietnam Ultra-Bold"/>
                <a:sym typeface="Be Vietnam Ultra-Bold"/>
              </a:rPr>
              <a:t>So</a:t>
            </a:r>
            <a:r>
              <a:rPr lang="en-US" b="true" sz="7624">
                <a:solidFill>
                  <a:srgbClr val="645135"/>
                </a:solidFill>
                <a:latin typeface="Be Vietnam Ultra-Bold"/>
                <a:ea typeface="Be Vietnam Ultra-Bold"/>
                <a:cs typeface="Be Vietnam Ultra-Bold"/>
                <a:sym typeface="Be Vietnam Ultra-Bold"/>
              </a:rPr>
              <a:t> sánh và đánh giá mô hình (Model Benchmarking)</a:t>
            </a:r>
          </a:p>
        </p:txBody>
      </p:sp>
      <p:sp>
        <p:nvSpPr>
          <p:cNvPr name="TextBox 13" id="13"/>
          <p:cNvSpPr txBox="true"/>
          <p:nvPr/>
        </p:nvSpPr>
        <p:spPr>
          <a:xfrm rot="0">
            <a:off x="13085708" y="2429173"/>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grpSp>
        <p:nvGrpSpPr>
          <p:cNvPr name="Group 2" id="2"/>
          <p:cNvGrpSpPr/>
          <p:nvPr/>
        </p:nvGrpSpPr>
        <p:grpSpPr>
          <a:xfrm rot="0">
            <a:off x="1731999" y="2233689"/>
            <a:ext cx="5868014" cy="1939926"/>
            <a:chOff x="0" y="0"/>
            <a:chExt cx="7824018" cy="2586567"/>
          </a:xfrm>
        </p:grpSpPr>
        <p:grpSp>
          <p:nvGrpSpPr>
            <p:cNvPr name="Group 3" id="3"/>
            <p:cNvGrpSpPr/>
            <p:nvPr/>
          </p:nvGrpSpPr>
          <p:grpSpPr>
            <a:xfrm rot="0">
              <a:off x="0" y="0"/>
              <a:ext cx="7824018" cy="2586567"/>
              <a:chOff x="0" y="0"/>
              <a:chExt cx="7824018" cy="2586567"/>
            </a:xfrm>
          </p:grpSpPr>
          <p:sp>
            <p:nvSpPr>
              <p:cNvPr name="Freeform 4" id="4"/>
              <p:cNvSpPr/>
              <p:nvPr/>
            </p:nvSpPr>
            <p:spPr>
              <a:xfrm flipH="false" flipV="false" rot="0">
                <a:off x="0" y="0"/>
                <a:ext cx="7824019" cy="2586567"/>
              </a:xfrm>
              <a:custGeom>
                <a:avLst/>
                <a:gdLst/>
                <a:ahLst/>
                <a:cxnLst/>
                <a:rect r="r" b="b" t="t" l="l"/>
                <a:pathLst>
                  <a:path h="2586567" w="7824019">
                    <a:moveTo>
                      <a:pt x="0" y="0"/>
                    </a:moveTo>
                    <a:lnTo>
                      <a:pt x="7824019" y="0"/>
                    </a:lnTo>
                    <a:lnTo>
                      <a:pt x="7824019" y="2586567"/>
                    </a:lnTo>
                    <a:lnTo>
                      <a:pt x="0" y="2586567"/>
                    </a:lnTo>
                    <a:close/>
                  </a:path>
                </a:pathLst>
              </a:custGeom>
              <a:solidFill>
                <a:srgbClr val="FFFFFF"/>
              </a:solidFill>
              <a:ln w="28575" cap="sq">
                <a:solidFill>
                  <a:srgbClr val="13B8A6"/>
                </a:solidFill>
                <a:prstDash val="solid"/>
                <a:miter/>
              </a:ln>
            </p:spPr>
          </p:sp>
          <p:sp>
            <p:nvSpPr>
              <p:cNvPr name="TextBox 5" id="5"/>
              <p:cNvSpPr txBox="true"/>
              <p:nvPr/>
            </p:nvSpPr>
            <p:spPr>
              <a:xfrm>
                <a:off x="0" y="-38100"/>
                <a:ext cx="7824018" cy="2624667"/>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223543" y="396875"/>
              <a:ext cx="6370986" cy="569172"/>
            </a:xfrm>
            <a:prstGeom prst="rect">
              <a:avLst/>
            </a:prstGeom>
          </p:spPr>
          <p:txBody>
            <a:bodyPr anchor="t" rtlCol="false" tIns="0" lIns="0" bIns="0" rIns="0">
              <a:spAutoFit/>
            </a:bodyPr>
            <a:lstStyle/>
            <a:p>
              <a:pPr algn="l">
                <a:lnSpc>
                  <a:spcPts val="3639"/>
                </a:lnSpc>
              </a:pPr>
              <a:r>
                <a:rPr lang="en-US" sz="2599" spc="207" b="true">
                  <a:solidFill>
                    <a:srgbClr val="13B8A6"/>
                  </a:solidFill>
                  <a:latin typeface="IBM Plex Mono Bold"/>
                  <a:ea typeface="IBM Plex Mono Bold"/>
                  <a:cs typeface="IBM Plex Mono Bold"/>
                  <a:sym typeface="IBM Plex Mono Bold"/>
                </a:rPr>
                <a:t>LINEAR REGRESSION</a:t>
              </a:r>
            </a:p>
          </p:txBody>
        </p:sp>
        <p:sp>
          <p:nvSpPr>
            <p:cNvPr name="TextBox 7" id="7"/>
            <p:cNvSpPr txBox="true"/>
            <p:nvPr/>
          </p:nvSpPr>
          <p:spPr>
            <a:xfrm rot="0">
              <a:off x="223543" y="1224492"/>
              <a:ext cx="7265160" cy="10598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RMSE 11.58  ·  R² 0.81</a:t>
              </a:r>
            </a:p>
            <a:p>
              <a:pPr algn="l">
                <a:lnSpc>
                  <a:spcPts val="3240"/>
                </a:lnSpc>
              </a:pPr>
              <a:r>
                <a:rPr lang="en-US" sz="2400">
                  <a:solidFill>
                    <a:srgbClr val="102A33"/>
                  </a:solidFill>
                  <a:latin typeface="Open Sans"/>
                  <a:ea typeface="Open Sans"/>
                  <a:cs typeface="Open Sans"/>
                  <a:sym typeface="Open Sans"/>
                </a:rPr>
                <a:t>MSE 134.06  ·  MAE ≈ 4.78</a:t>
              </a:r>
            </a:p>
          </p:txBody>
        </p:sp>
      </p:grpSp>
      <p:grpSp>
        <p:nvGrpSpPr>
          <p:cNvPr name="Group 8" id="8"/>
          <p:cNvGrpSpPr/>
          <p:nvPr/>
        </p:nvGrpSpPr>
        <p:grpSpPr>
          <a:xfrm rot="0">
            <a:off x="1731999" y="4614939"/>
            <a:ext cx="5868014" cy="1939925"/>
            <a:chOff x="0" y="0"/>
            <a:chExt cx="7824018" cy="2586567"/>
          </a:xfrm>
        </p:grpSpPr>
        <p:grpSp>
          <p:nvGrpSpPr>
            <p:cNvPr name="Group 9" id="9"/>
            <p:cNvGrpSpPr/>
            <p:nvPr/>
          </p:nvGrpSpPr>
          <p:grpSpPr>
            <a:xfrm rot="0">
              <a:off x="0" y="0"/>
              <a:ext cx="7824018" cy="2586567"/>
              <a:chOff x="0" y="0"/>
              <a:chExt cx="7824018" cy="2586567"/>
            </a:xfrm>
          </p:grpSpPr>
          <p:sp>
            <p:nvSpPr>
              <p:cNvPr name="Freeform 10" id="10"/>
              <p:cNvSpPr/>
              <p:nvPr/>
            </p:nvSpPr>
            <p:spPr>
              <a:xfrm flipH="false" flipV="false" rot="0">
                <a:off x="0" y="0"/>
                <a:ext cx="7824019" cy="2586567"/>
              </a:xfrm>
              <a:custGeom>
                <a:avLst/>
                <a:gdLst/>
                <a:ahLst/>
                <a:cxnLst/>
                <a:rect r="r" b="b" t="t" l="l"/>
                <a:pathLst>
                  <a:path h="2586567" w="7824019">
                    <a:moveTo>
                      <a:pt x="0" y="0"/>
                    </a:moveTo>
                    <a:lnTo>
                      <a:pt x="7824019" y="0"/>
                    </a:lnTo>
                    <a:lnTo>
                      <a:pt x="7824019" y="2586567"/>
                    </a:lnTo>
                    <a:lnTo>
                      <a:pt x="0" y="2586567"/>
                    </a:lnTo>
                    <a:close/>
                  </a:path>
                </a:pathLst>
              </a:custGeom>
              <a:solidFill>
                <a:srgbClr val="FFFFFF"/>
              </a:solidFill>
              <a:ln w="28575" cap="sq">
                <a:solidFill>
                  <a:srgbClr val="FF7959"/>
                </a:solidFill>
                <a:prstDash val="solid"/>
                <a:miter/>
              </a:ln>
            </p:spPr>
          </p:sp>
          <p:sp>
            <p:nvSpPr>
              <p:cNvPr name="TextBox 11" id="11"/>
              <p:cNvSpPr txBox="true"/>
              <p:nvPr/>
            </p:nvSpPr>
            <p:spPr>
              <a:xfrm>
                <a:off x="0" y="-38100"/>
                <a:ext cx="7824018" cy="2624667"/>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223543" y="396875"/>
              <a:ext cx="6370986" cy="569172"/>
            </a:xfrm>
            <a:prstGeom prst="rect">
              <a:avLst/>
            </a:prstGeom>
          </p:spPr>
          <p:txBody>
            <a:bodyPr anchor="t" rtlCol="false" tIns="0" lIns="0" bIns="0" rIns="0">
              <a:spAutoFit/>
            </a:bodyPr>
            <a:lstStyle/>
            <a:p>
              <a:pPr algn="l">
                <a:lnSpc>
                  <a:spcPts val="3640"/>
                </a:lnSpc>
              </a:pPr>
              <a:r>
                <a:rPr lang="en-US" sz="2600" spc="208" b="true">
                  <a:solidFill>
                    <a:srgbClr val="13B8A6"/>
                  </a:solidFill>
                  <a:latin typeface="IBM Plex Mono Bold"/>
                  <a:ea typeface="IBM Plex Mono Bold"/>
                  <a:cs typeface="IBM Plex Mono Bold"/>
                  <a:sym typeface="IBM Plex Mono Bold"/>
                </a:rPr>
                <a:t>DECISION TREE</a:t>
              </a:r>
            </a:p>
          </p:txBody>
        </p:sp>
        <p:sp>
          <p:nvSpPr>
            <p:cNvPr name="TextBox 13" id="13"/>
            <p:cNvSpPr txBox="true"/>
            <p:nvPr/>
          </p:nvSpPr>
          <p:spPr>
            <a:xfrm rot="0">
              <a:off x="223543" y="1224492"/>
              <a:ext cx="7265160" cy="10598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RMSE 15.52  ·  R² 0.66</a:t>
              </a:r>
            </a:p>
            <a:p>
              <a:pPr algn="l">
                <a:lnSpc>
                  <a:spcPts val="3240"/>
                </a:lnSpc>
              </a:pPr>
              <a:r>
                <a:rPr lang="en-US" sz="2400">
                  <a:solidFill>
                    <a:srgbClr val="102A33"/>
                  </a:solidFill>
                  <a:latin typeface="Open Sans"/>
                  <a:ea typeface="Open Sans"/>
                  <a:cs typeface="Open Sans"/>
                  <a:sym typeface="Open Sans"/>
                </a:rPr>
                <a:t>MSE 240.91</a:t>
              </a:r>
            </a:p>
          </p:txBody>
        </p:sp>
      </p:grpSp>
      <p:sp>
        <p:nvSpPr>
          <p:cNvPr name="Freeform 14" id="14"/>
          <p:cNvSpPr/>
          <p:nvPr/>
        </p:nvSpPr>
        <p:spPr>
          <a:xfrm flipH="false" flipV="false" rot="0">
            <a:off x="8762386" y="1429642"/>
            <a:ext cx="7837338" cy="6230214"/>
          </a:xfrm>
          <a:custGeom>
            <a:avLst/>
            <a:gdLst/>
            <a:ahLst/>
            <a:cxnLst/>
            <a:rect r="r" b="b" t="t" l="l"/>
            <a:pathLst>
              <a:path h="6230214" w="7837338">
                <a:moveTo>
                  <a:pt x="0" y="0"/>
                </a:moveTo>
                <a:lnTo>
                  <a:pt x="7837338" y="0"/>
                </a:lnTo>
                <a:lnTo>
                  <a:pt x="7837338" y="6230214"/>
                </a:lnTo>
                <a:lnTo>
                  <a:pt x="0" y="6230214"/>
                </a:lnTo>
                <a:lnTo>
                  <a:pt x="0" y="0"/>
                </a:lnTo>
                <a:close/>
              </a:path>
            </a:pathLst>
          </a:custGeom>
          <a:blipFill>
            <a:blip r:embed="rId2"/>
            <a:stretch>
              <a:fillRect l="0" t="0" r="0" b="0"/>
            </a:stretch>
          </a:blipFill>
        </p:spPr>
      </p:sp>
      <p:sp>
        <p:nvSpPr>
          <p:cNvPr name="TextBox 15" id="15"/>
          <p:cNvSpPr txBox="true"/>
          <p:nvPr/>
        </p:nvSpPr>
        <p:spPr>
          <a:xfrm rot="0">
            <a:off x="952500" y="548092"/>
            <a:ext cx="16383000"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So</a:t>
            </a:r>
            <a:r>
              <a:rPr lang="en-US" sz="4350" b="true">
                <a:solidFill>
                  <a:srgbClr val="1355B8"/>
                </a:solidFill>
                <a:latin typeface="Montserrat Bold"/>
                <a:ea typeface="Montserrat Bold"/>
                <a:cs typeface="Montserrat Bold"/>
                <a:sym typeface="Montserrat Bold"/>
              </a:rPr>
              <a:t> sánh 2 mô hình hồi quy (Regression)</a:t>
            </a:r>
          </a:p>
        </p:txBody>
      </p:sp>
    </p:spTree>
  </p:cSld>
  <p:clrMapOvr>
    <a:masterClrMapping/>
  </p:clrMapOvr>
  <p:transition spd="slow">
    <p:push dir="u"/>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grpSp>
        <p:nvGrpSpPr>
          <p:cNvPr name="Group 2" id="2"/>
          <p:cNvGrpSpPr/>
          <p:nvPr/>
        </p:nvGrpSpPr>
        <p:grpSpPr>
          <a:xfrm rot="0">
            <a:off x="1731999" y="2233689"/>
            <a:ext cx="5868014" cy="1939926"/>
            <a:chOff x="0" y="0"/>
            <a:chExt cx="7824018" cy="2586567"/>
          </a:xfrm>
        </p:grpSpPr>
        <p:grpSp>
          <p:nvGrpSpPr>
            <p:cNvPr name="Group 3" id="3"/>
            <p:cNvGrpSpPr/>
            <p:nvPr/>
          </p:nvGrpSpPr>
          <p:grpSpPr>
            <a:xfrm rot="0">
              <a:off x="0" y="0"/>
              <a:ext cx="7824018" cy="2586567"/>
              <a:chOff x="0" y="0"/>
              <a:chExt cx="7824018" cy="2586567"/>
            </a:xfrm>
          </p:grpSpPr>
          <p:sp>
            <p:nvSpPr>
              <p:cNvPr name="Freeform 4" id="4"/>
              <p:cNvSpPr/>
              <p:nvPr/>
            </p:nvSpPr>
            <p:spPr>
              <a:xfrm flipH="false" flipV="false" rot="0">
                <a:off x="0" y="0"/>
                <a:ext cx="7824019" cy="2586567"/>
              </a:xfrm>
              <a:custGeom>
                <a:avLst/>
                <a:gdLst/>
                <a:ahLst/>
                <a:cxnLst/>
                <a:rect r="r" b="b" t="t" l="l"/>
                <a:pathLst>
                  <a:path h="2586567" w="7824019">
                    <a:moveTo>
                      <a:pt x="0" y="0"/>
                    </a:moveTo>
                    <a:lnTo>
                      <a:pt x="7824019" y="0"/>
                    </a:lnTo>
                    <a:lnTo>
                      <a:pt x="7824019" y="2586567"/>
                    </a:lnTo>
                    <a:lnTo>
                      <a:pt x="0" y="2586567"/>
                    </a:lnTo>
                    <a:close/>
                  </a:path>
                </a:pathLst>
              </a:custGeom>
              <a:solidFill>
                <a:srgbClr val="FFFFFF"/>
              </a:solidFill>
              <a:ln w="28575" cap="sq">
                <a:solidFill>
                  <a:srgbClr val="13B8A6"/>
                </a:solidFill>
                <a:prstDash val="solid"/>
                <a:miter/>
              </a:ln>
            </p:spPr>
          </p:sp>
          <p:sp>
            <p:nvSpPr>
              <p:cNvPr name="TextBox 5" id="5"/>
              <p:cNvSpPr txBox="true"/>
              <p:nvPr/>
            </p:nvSpPr>
            <p:spPr>
              <a:xfrm>
                <a:off x="0" y="-38100"/>
                <a:ext cx="7824018" cy="2624667"/>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223543" y="396875"/>
              <a:ext cx="6370986" cy="569172"/>
            </a:xfrm>
            <a:prstGeom prst="rect">
              <a:avLst/>
            </a:prstGeom>
          </p:spPr>
          <p:txBody>
            <a:bodyPr anchor="t" rtlCol="false" tIns="0" lIns="0" bIns="0" rIns="0">
              <a:spAutoFit/>
            </a:bodyPr>
            <a:lstStyle/>
            <a:p>
              <a:pPr algn="l">
                <a:lnSpc>
                  <a:spcPts val="3639"/>
                </a:lnSpc>
              </a:pPr>
              <a:r>
                <a:rPr lang="en-US" sz="2599" spc="207" b="true">
                  <a:solidFill>
                    <a:srgbClr val="13B8A6"/>
                  </a:solidFill>
                  <a:latin typeface="IBM Plex Mono Bold"/>
                  <a:ea typeface="IBM Plex Mono Bold"/>
                  <a:cs typeface="IBM Plex Mono Bold"/>
                  <a:sym typeface="IBM Plex Mono Bold"/>
                </a:rPr>
                <a:t>LINEAR REGRESSION</a:t>
              </a:r>
            </a:p>
          </p:txBody>
        </p:sp>
        <p:sp>
          <p:nvSpPr>
            <p:cNvPr name="TextBox 7" id="7"/>
            <p:cNvSpPr txBox="true"/>
            <p:nvPr/>
          </p:nvSpPr>
          <p:spPr>
            <a:xfrm rot="0">
              <a:off x="223543" y="1224492"/>
              <a:ext cx="7265160" cy="10598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RMSE 11.58  ·  R² 0.81</a:t>
              </a:r>
            </a:p>
            <a:p>
              <a:pPr algn="l">
                <a:lnSpc>
                  <a:spcPts val="3240"/>
                </a:lnSpc>
              </a:pPr>
              <a:r>
                <a:rPr lang="en-US" sz="2400">
                  <a:solidFill>
                    <a:srgbClr val="102A33"/>
                  </a:solidFill>
                  <a:latin typeface="Open Sans"/>
                  <a:ea typeface="Open Sans"/>
                  <a:cs typeface="Open Sans"/>
                  <a:sym typeface="Open Sans"/>
                </a:rPr>
                <a:t>MSE 134.06  ·  MAE ≈ 4.78</a:t>
              </a:r>
            </a:p>
          </p:txBody>
        </p:sp>
      </p:grpSp>
      <p:grpSp>
        <p:nvGrpSpPr>
          <p:cNvPr name="Group 8" id="8"/>
          <p:cNvGrpSpPr/>
          <p:nvPr/>
        </p:nvGrpSpPr>
        <p:grpSpPr>
          <a:xfrm rot="0">
            <a:off x="1731999" y="4614939"/>
            <a:ext cx="5868014" cy="1939925"/>
            <a:chOff x="0" y="0"/>
            <a:chExt cx="7824018" cy="2586567"/>
          </a:xfrm>
        </p:grpSpPr>
        <p:grpSp>
          <p:nvGrpSpPr>
            <p:cNvPr name="Group 9" id="9"/>
            <p:cNvGrpSpPr/>
            <p:nvPr/>
          </p:nvGrpSpPr>
          <p:grpSpPr>
            <a:xfrm rot="0">
              <a:off x="0" y="0"/>
              <a:ext cx="7824018" cy="2586567"/>
              <a:chOff x="0" y="0"/>
              <a:chExt cx="7824018" cy="2586567"/>
            </a:xfrm>
          </p:grpSpPr>
          <p:sp>
            <p:nvSpPr>
              <p:cNvPr name="Freeform 10" id="10"/>
              <p:cNvSpPr/>
              <p:nvPr/>
            </p:nvSpPr>
            <p:spPr>
              <a:xfrm flipH="false" flipV="false" rot="0">
                <a:off x="0" y="0"/>
                <a:ext cx="7824019" cy="2586567"/>
              </a:xfrm>
              <a:custGeom>
                <a:avLst/>
                <a:gdLst/>
                <a:ahLst/>
                <a:cxnLst/>
                <a:rect r="r" b="b" t="t" l="l"/>
                <a:pathLst>
                  <a:path h="2586567" w="7824019">
                    <a:moveTo>
                      <a:pt x="0" y="0"/>
                    </a:moveTo>
                    <a:lnTo>
                      <a:pt x="7824019" y="0"/>
                    </a:lnTo>
                    <a:lnTo>
                      <a:pt x="7824019" y="2586567"/>
                    </a:lnTo>
                    <a:lnTo>
                      <a:pt x="0" y="2586567"/>
                    </a:lnTo>
                    <a:close/>
                  </a:path>
                </a:pathLst>
              </a:custGeom>
              <a:solidFill>
                <a:srgbClr val="FFFFFF"/>
              </a:solidFill>
              <a:ln w="28575" cap="sq">
                <a:solidFill>
                  <a:srgbClr val="FF7959"/>
                </a:solidFill>
                <a:prstDash val="solid"/>
                <a:miter/>
              </a:ln>
            </p:spPr>
          </p:sp>
          <p:sp>
            <p:nvSpPr>
              <p:cNvPr name="TextBox 11" id="11"/>
              <p:cNvSpPr txBox="true"/>
              <p:nvPr/>
            </p:nvSpPr>
            <p:spPr>
              <a:xfrm>
                <a:off x="0" y="-38100"/>
                <a:ext cx="7824018" cy="2624667"/>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223543" y="396875"/>
              <a:ext cx="6370986" cy="569172"/>
            </a:xfrm>
            <a:prstGeom prst="rect">
              <a:avLst/>
            </a:prstGeom>
          </p:spPr>
          <p:txBody>
            <a:bodyPr anchor="t" rtlCol="false" tIns="0" lIns="0" bIns="0" rIns="0">
              <a:spAutoFit/>
            </a:bodyPr>
            <a:lstStyle/>
            <a:p>
              <a:pPr algn="l">
                <a:lnSpc>
                  <a:spcPts val="3640"/>
                </a:lnSpc>
              </a:pPr>
              <a:r>
                <a:rPr lang="en-US" sz="2600" spc="208" b="true">
                  <a:solidFill>
                    <a:srgbClr val="13B8A6"/>
                  </a:solidFill>
                  <a:latin typeface="IBM Plex Mono Bold"/>
                  <a:ea typeface="IBM Plex Mono Bold"/>
                  <a:cs typeface="IBM Plex Mono Bold"/>
                  <a:sym typeface="IBM Plex Mono Bold"/>
                </a:rPr>
                <a:t>DECISION TREE</a:t>
              </a:r>
            </a:p>
          </p:txBody>
        </p:sp>
        <p:sp>
          <p:nvSpPr>
            <p:cNvPr name="TextBox 13" id="13"/>
            <p:cNvSpPr txBox="true"/>
            <p:nvPr/>
          </p:nvSpPr>
          <p:spPr>
            <a:xfrm rot="0">
              <a:off x="223543" y="1224492"/>
              <a:ext cx="7265160" cy="1059815"/>
            </a:xfrm>
            <a:prstGeom prst="rect">
              <a:avLst/>
            </a:prstGeom>
          </p:spPr>
          <p:txBody>
            <a:bodyPr anchor="t" rtlCol="false" tIns="0" lIns="0" bIns="0" rIns="0">
              <a:spAutoFit/>
            </a:bodyPr>
            <a:lstStyle/>
            <a:p>
              <a:pPr algn="l">
                <a:lnSpc>
                  <a:spcPts val="3240"/>
                </a:lnSpc>
              </a:pPr>
              <a:r>
                <a:rPr lang="en-US" sz="2400">
                  <a:solidFill>
                    <a:srgbClr val="102A33"/>
                  </a:solidFill>
                  <a:latin typeface="Open Sans"/>
                  <a:ea typeface="Open Sans"/>
                  <a:cs typeface="Open Sans"/>
                  <a:sym typeface="Open Sans"/>
                </a:rPr>
                <a:t>RMSE 15.52  ·  R² 0.66</a:t>
              </a:r>
            </a:p>
            <a:p>
              <a:pPr algn="l">
                <a:lnSpc>
                  <a:spcPts val="3240"/>
                </a:lnSpc>
              </a:pPr>
              <a:r>
                <a:rPr lang="en-US" sz="2400">
                  <a:solidFill>
                    <a:srgbClr val="102A33"/>
                  </a:solidFill>
                  <a:latin typeface="Open Sans"/>
                  <a:ea typeface="Open Sans"/>
                  <a:cs typeface="Open Sans"/>
                  <a:sym typeface="Open Sans"/>
                </a:rPr>
                <a:t>MSE 240.91</a:t>
              </a:r>
            </a:p>
          </p:txBody>
        </p:sp>
      </p:grpSp>
      <p:sp>
        <p:nvSpPr>
          <p:cNvPr name="TextBox 14" id="14"/>
          <p:cNvSpPr txBox="true"/>
          <p:nvPr/>
        </p:nvSpPr>
        <p:spPr>
          <a:xfrm rot="0">
            <a:off x="952500" y="548092"/>
            <a:ext cx="16383000"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So</a:t>
            </a:r>
            <a:r>
              <a:rPr lang="en-US" sz="4350" b="true">
                <a:solidFill>
                  <a:srgbClr val="1355B8"/>
                </a:solidFill>
                <a:latin typeface="Montserrat Bold"/>
                <a:ea typeface="Montserrat Bold"/>
                <a:cs typeface="Montserrat Bold"/>
                <a:sym typeface="Montserrat Bold"/>
              </a:rPr>
              <a:t> sánh 2 mô hình hồi quy (Regression)</a:t>
            </a:r>
          </a:p>
        </p:txBody>
      </p:sp>
      <p:sp>
        <p:nvSpPr>
          <p:cNvPr name="TextBox 15" id="15"/>
          <p:cNvSpPr txBox="true"/>
          <p:nvPr/>
        </p:nvSpPr>
        <p:spPr>
          <a:xfrm rot="0">
            <a:off x="1485659" y="7607997"/>
            <a:ext cx="15316682" cy="1973580"/>
          </a:xfrm>
          <a:prstGeom prst="rect">
            <a:avLst/>
          </a:prstGeom>
        </p:spPr>
        <p:txBody>
          <a:bodyPr anchor="t" rtlCol="false" tIns="0" lIns="0" bIns="0" rIns="0">
            <a:spAutoFit/>
          </a:bodyPr>
          <a:lstStyle/>
          <a:p>
            <a:pPr algn="just">
              <a:lnSpc>
                <a:spcPts val="3915"/>
              </a:lnSpc>
            </a:pPr>
            <a:r>
              <a:rPr lang="en-US" sz="2900" b="true">
                <a:solidFill>
                  <a:srgbClr val="102A33"/>
                </a:solidFill>
                <a:latin typeface="Open Sans Bold"/>
                <a:ea typeface="Open Sans Bold"/>
                <a:cs typeface="Open Sans Bold"/>
                <a:sym typeface="Open Sans Bold"/>
              </a:rPr>
              <a:t>Kết luận:</a:t>
            </a:r>
            <a:r>
              <a:rPr lang="en-US" sz="2900">
                <a:solidFill>
                  <a:srgbClr val="102A33"/>
                </a:solidFill>
                <a:latin typeface="Open Sans"/>
                <a:ea typeface="Open Sans"/>
                <a:cs typeface="Open Sans"/>
                <a:sym typeface="Open Sans"/>
              </a:rPr>
              <a:t> Linear Regression hoạt động tốt hơn, độ chính xác mô hình: Với R² ≈ 0.81 (so với 0.66 của Decision Tree) và sai số RMSE thấp hơn đáng kể (11.58 so với 15.52), mô hình Linear Regression giải thích được hơn 80% biến thiên của dữ liệu. Điều này cho thấy khả năng dự đoán khá tốt, tuy chưa hoàn hảo.</a:t>
            </a:r>
          </a:p>
        </p:txBody>
      </p:sp>
      <p:sp>
        <p:nvSpPr>
          <p:cNvPr name="Freeform 16" id="16"/>
          <p:cNvSpPr/>
          <p:nvPr/>
        </p:nvSpPr>
        <p:spPr>
          <a:xfrm flipH="false" flipV="false" rot="0">
            <a:off x="8889470" y="1401861"/>
            <a:ext cx="7455912" cy="5815612"/>
          </a:xfrm>
          <a:custGeom>
            <a:avLst/>
            <a:gdLst/>
            <a:ahLst/>
            <a:cxnLst/>
            <a:rect r="r" b="b" t="t" l="l"/>
            <a:pathLst>
              <a:path h="5815612" w="7455912">
                <a:moveTo>
                  <a:pt x="0" y="0"/>
                </a:moveTo>
                <a:lnTo>
                  <a:pt x="7455912" y="0"/>
                </a:lnTo>
                <a:lnTo>
                  <a:pt x="7455912" y="5815611"/>
                </a:lnTo>
                <a:lnTo>
                  <a:pt x="0" y="5815611"/>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799599" y="2577186"/>
          <a:ext cx="12536402" cy="3467100"/>
        </p:xfrm>
        <a:graphic>
          <a:graphicData uri="http://schemas.openxmlformats.org/drawingml/2006/table">
            <a:tbl>
              <a:tblPr/>
              <a:tblGrid>
                <a:gridCol w="4220540"/>
                <a:gridCol w="2046379"/>
                <a:gridCol w="2024656"/>
                <a:gridCol w="2089825"/>
                <a:gridCol w="2155003"/>
              </a:tblGrid>
              <a:tr h="1608349">
                <a:tc>
                  <a:txBody>
                    <a:bodyPr anchor="t" rtlCol="false"/>
                    <a:lstStyle/>
                    <a:p>
                      <a:pPr algn="ctr">
                        <a:lnSpc>
                          <a:spcPts val="2940"/>
                        </a:lnSpc>
                        <a:defRPr/>
                      </a:pPr>
                      <a:r>
                        <a:rPr lang="en-US" sz="2100" b="true">
                          <a:solidFill>
                            <a:srgbClr val="081C24"/>
                          </a:solidFill>
                          <a:latin typeface="Montserrat Bold"/>
                          <a:ea typeface="Montserrat Bold"/>
                          <a:cs typeface="Montserrat Bold"/>
                          <a:sym typeface="Montserrat Bold"/>
                        </a:rPr>
                        <a:t>Mô Hình Phân Loại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2940"/>
                        </a:lnSpc>
                        <a:defRPr/>
                      </a:pPr>
                      <a:r>
                        <a:rPr lang="en-US" sz="2100" b="true">
                          <a:solidFill>
                            <a:srgbClr val="1B343D"/>
                          </a:solidFill>
                          <a:latin typeface="Montserrat Bold"/>
                          <a:ea typeface="Montserrat Bold"/>
                          <a:cs typeface="Montserrat Bold"/>
                          <a:sym typeface="Montserra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2940"/>
                        </a:lnSpc>
                        <a:defRPr/>
                      </a:pPr>
                      <a:endParaRPr lang="en-US" sz="1100"/>
                    </a:p>
                    <a:p>
                      <a:pPr algn="ctr">
                        <a:lnSpc>
                          <a:spcPts val="2940"/>
                        </a:lnSpc>
                      </a:pPr>
                      <a:r>
                        <a:rPr lang="en-US" sz="2100" b="true">
                          <a:solidFill>
                            <a:srgbClr val="1B343D"/>
                          </a:solidFill>
                          <a:latin typeface="Montserrat Bold"/>
                          <a:ea typeface="Montserrat Bold"/>
                          <a:cs typeface="Montserrat Bold"/>
                          <a:sym typeface="Montserrat Bold"/>
                        </a:rPr>
                        <a:t>Precision</a:t>
                      </a:r>
                    </a:p>
                    <a:p>
                      <a:pPr algn="ctr">
                        <a:lnSpc>
                          <a:spcPts val="294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2940"/>
                        </a:lnSpc>
                        <a:defRPr/>
                      </a:pPr>
                      <a:r>
                        <a:rPr lang="en-US" sz="2100" b="true">
                          <a:solidFill>
                            <a:srgbClr val="1B343D"/>
                          </a:solidFill>
                          <a:latin typeface="Montserrat Bold"/>
                          <a:ea typeface="Montserrat Bold"/>
                          <a:cs typeface="Montserrat Bold"/>
                          <a:sym typeface="Montserrat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2940"/>
                        </a:lnSpc>
                        <a:defRPr/>
                      </a:pPr>
                      <a:endParaRPr lang="en-US" sz="1100"/>
                    </a:p>
                    <a:p>
                      <a:pPr algn="ctr">
                        <a:lnSpc>
                          <a:spcPts val="2940"/>
                        </a:lnSpc>
                      </a:pPr>
                      <a:r>
                        <a:rPr lang="en-US" sz="2100" b="true">
                          <a:solidFill>
                            <a:srgbClr val="1B343D"/>
                          </a:solidFill>
                          <a:latin typeface="Montserrat Bold"/>
                          <a:ea typeface="Montserrat Bold"/>
                          <a:cs typeface="Montserrat Bold"/>
                          <a:sym typeface="Montserrat Bold"/>
                        </a:rPr>
                        <a:t>F1-Score</a:t>
                      </a:r>
                    </a:p>
                    <a:p>
                      <a:pPr algn="ctr">
                        <a:lnSpc>
                          <a:spcPts val="294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r>
              <a:tr h="828252">
                <a:tc>
                  <a:txBody>
                    <a:bodyPr anchor="t" rtlCol="false"/>
                    <a:lstStyle/>
                    <a:p>
                      <a:pPr algn="ctr">
                        <a:lnSpc>
                          <a:spcPts val="2835"/>
                        </a:lnSpc>
                        <a:defRPr/>
                      </a:pPr>
                      <a:r>
                        <a:rPr lang="en-US" sz="2025">
                          <a:solidFill>
                            <a:srgbClr val="000000"/>
                          </a:solidFill>
                          <a:latin typeface="Montserrat"/>
                          <a:ea typeface="Montserrat"/>
                          <a:cs typeface="Montserrat"/>
                          <a:sym typeface="Montserrat"/>
                        </a:rPr>
                        <a:t>Logistic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0.99 (99%)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0.98 (98%)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0.99 (99%)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0499">
                <a:tc>
                  <a:txBody>
                    <a:bodyPr anchor="t" rtlCol="false"/>
                    <a:lstStyle/>
                    <a:p>
                      <a:pPr algn="ctr">
                        <a:lnSpc>
                          <a:spcPts val="2835"/>
                        </a:lnSpc>
                        <a:defRPr/>
                      </a:pPr>
                      <a:r>
                        <a:rPr lang="en-US" sz="2025">
                          <a:solidFill>
                            <a:srgbClr val="000000"/>
                          </a:solidFill>
                          <a:latin typeface="Montserrat"/>
                          <a:ea typeface="Montserrat"/>
                          <a:cs typeface="Montserrat"/>
                          <a:sym typeface="Montserrat"/>
                        </a:rPr>
                        <a:t>Decision Tree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35"/>
                        </a:lnSpc>
                        <a:defRPr/>
                      </a:pPr>
                      <a:r>
                        <a:rPr lang="en-US" sz="2025">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876300" y="389520"/>
            <a:ext cx="16383000" cy="236601"/>
          </a:xfrm>
          <a:prstGeom prst="rect">
            <a:avLst/>
          </a:prstGeom>
        </p:spPr>
        <p:txBody>
          <a:bodyPr anchor="t" rtlCol="false" tIns="0" lIns="0" bIns="0" rIns="0">
            <a:spAutoFit/>
          </a:bodyPr>
          <a:lstStyle/>
          <a:p>
            <a:pPr algn="l">
              <a:lnSpc>
                <a:spcPts val="1872"/>
              </a:lnSpc>
            </a:pPr>
            <a:r>
              <a:rPr lang="en-US" sz="1800">
                <a:solidFill>
                  <a:srgbClr val="102A33"/>
                </a:solidFill>
                <a:latin typeface="Montserrat"/>
                <a:ea typeface="Montserrat"/>
                <a:cs typeface="Montserrat"/>
                <a:sym typeface="Montserrat"/>
              </a:rPr>
              <a:t>So sánh mô hình phân loại(Classification)</a:t>
            </a:r>
          </a:p>
        </p:txBody>
      </p:sp>
      <p:sp>
        <p:nvSpPr>
          <p:cNvPr name="TextBox 4" id="4"/>
          <p:cNvSpPr txBox="true"/>
          <p:nvPr/>
        </p:nvSpPr>
        <p:spPr>
          <a:xfrm rot="0">
            <a:off x="876300" y="815912"/>
            <a:ext cx="16383000" cy="482726"/>
          </a:xfrm>
          <a:prstGeom prst="rect">
            <a:avLst/>
          </a:prstGeom>
        </p:spPr>
        <p:txBody>
          <a:bodyPr anchor="t" rtlCol="false" tIns="0" lIns="0" bIns="0" rIns="0">
            <a:spAutoFit/>
          </a:bodyPr>
          <a:lstStyle/>
          <a:p>
            <a:pPr algn="l">
              <a:lnSpc>
                <a:spcPts val="3743"/>
              </a:lnSpc>
            </a:pPr>
            <a:r>
              <a:rPr lang="en-US" sz="3599" b="true">
                <a:solidFill>
                  <a:srgbClr val="102A33"/>
                </a:solidFill>
                <a:latin typeface="Montserrat Bold"/>
                <a:ea typeface="Montserrat Bold"/>
                <a:cs typeface="Montserrat Bold"/>
                <a:sym typeface="Montserrat Bold"/>
              </a:rPr>
              <a:t>Bảng chỉ số đánh giá phân loại</a:t>
            </a:r>
          </a:p>
        </p:txBody>
      </p:sp>
      <p:sp>
        <p:nvSpPr>
          <p:cNvPr name="Freeform 5" id="5"/>
          <p:cNvSpPr/>
          <p:nvPr/>
        </p:nvSpPr>
        <p:spPr>
          <a:xfrm flipH="false" flipV="false" rot="0">
            <a:off x="1720757" y="7004635"/>
            <a:ext cx="15172093" cy="1973127"/>
          </a:xfrm>
          <a:custGeom>
            <a:avLst/>
            <a:gdLst/>
            <a:ahLst/>
            <a:cxnLst/>
            <a:rect r="r" b="b" t="t" l="l"/>
            <a:pathLst>
              <a:path h="1973127" w="15172093">
                <a:moveTo>
                  <a:pt x="0" y="0"/>
                </a:moveTo>
                <a:lnTo>
                  <a:pt x="15172093" y="0"/>
                </a:lnTo>
                <a:lnTo>
                  <a:pt x="15172093" y="1973127"/>
                </a:lnTo>
                <a:lnTo>
                  <a:pt x="0" y="1973127"/>
                </a:lnTo>
                <a:lnTo>
                  <a:pt x="0" y="0"/>
                </a:lnTo>
                <a:close/>
              </a:path>
            </a:pathLst>
          </a:custGeom>
          <a:blipFill>
            <a:blip r:embed="rId2"/>
            <a:stretch>
              <a:fillRect l="0" t="0" r="0" b="0"/>
            </a:stretch>
          </a:blipFill>
        </p:spPr>
      </p:sp>
      <p:sp>
        <p:nvSpPr>
          <p:cNvPr name="TextBox 6" id="6"/>
          <p:cNvSpPr txBox="true"/>
          <p:nvPr/>
        </p:nvSpPr>
        <p:spPr>
          <a:xfrm rot="0">
            <a:off x="2477741" y="7273512"/>
            <a:ext cx="13658124" cy="1399996"/>
          </a:xfrm>
          <a:prstGeom prst="rect">
            <a:avLst/>
          </a:prstGeom>
        </p:spPr>
        <p:txBody>
          <a:bodyPr anchor="t" rtlCol="false" tIns="0" lIns="0" bIns="0" rIns="0">
            <a:spAutoFit/>
          </a:bodyPr>
          <a:lstStyle/>
          <a:p>
            <a:pPr algn="l">
              <a:lnSpc>
                <a:spcPts val="3757"/>
              </a:lnSpc>
            </a:pPr>
            <a:r>
              <a:rPr lang="en-US" sz="2504" spc="-50">
                <a:solidFill>
                  <a:srgbClr val="1B414D"/>
                </a:solidFill>
                <a:latin typeface="Montaser Arabic"/>
                <a:ea typeface="Montaser Arabic"/>
                <a:cs typeface="Montaser Arabic"/>
                <a:sym typeface="Montaser Arabic"/>
              </a:rPr>
              <a:t>Decision Tree Classifier đạt hiệu suất tối ưu với Recall = 1.00 (100%) và F1-Score = 1.00 (100%) — vượt trội so với Logistic Regression (bị sụt giảm Recall xuống 0.98 / bỏ sót 33 mẫu).</a:t>
            </a:r>
          </a:p>
        </p:txBody>
      </p:sp>
      <p:sp>
        <p:nvSpPr>
          <p:cNvPr name="TextBox 7" id="7"/>
          <p:cNvSpPr txBox="true"/>
          <p:nvPr/>
        </p:nvSpPr>
        <p:spPr>
          <a:xfrm rot="0">
            <a:off x="1894447" y="6547614"/>
            <a:ext cx="3791073" cy="502741"/>
          </a:xfrm>
          <a:prstGeom prst="rect">
            <a:avLst/>
          </a:prstGeom>
        </p:spPr>
        <p:txBody>
          <a:bodyPr anchor="t" rtlCol="false" tIns="0" lIns="0" bIns="0" rIns="0">
            <a:spAutoFit/>
          </a:bodyPr>
          <a:lstStyle/>
          <a:p>
            <a:pPr algn="l">
              <a:lnSpc>
                <a:spcPts val="4207"/>
              </a:lnSpc>
            </a:pPr>
            <a:r>
              <a:rPr lang="en-US" sz="2804" spc="-56" b="true">
                <a:solidFill>
                  <a:srgbClr val="1B414D"/>
                </a:solidFill>
                <a:latin typeface="Montaser Arabic Bold"/>
                <a:ea typeface="Montaser Arabic Bold"/>
                <a:cs typeface="Montaser Arabic Bold"/>
                <a:sym typeface="Montaser Arabic Bold"/>
              </a:rPr>
              <a:t>Kết luận Phân loại: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sp>
        <p:nvSpPr>
          <p:cNvPr name="Freeform 2" id="2"/>
          <p:cNvSpPr/>
          <p:nvPr/>
        </p:nvSpPr>
        <p:spPr>
          <a:xfrm flipH="false" flipV="false" rot="0">
            <a:off x="1354066" y="3565688"/>
            <a:ext cx="7323943" cy="6081092"/>
          </a:xfrm>
          <a:custGeom>
            <a:avLst/>
            <a:gdLst/>
            <a:ahLst/>
            <a:cxnLst/>
            <a:rect r="r" b="b" t="t" l="l"/>
            <a:pathLst>
              <a:path h="6081092" w="7323943">
                <a:moveTo>
                  <a:pt x="0" y="0"/>
                </a:moveTo>
                <a:lnTo>
                  <a:pt x="7323943" y="0"/>
                </a:lnTo>
                <a:lnTo>
                  <a:pt x="7323943" y="6081092"/>
                </a:lnTo>
                <a:lnTo>
                  <a:pt x="0" y="6081092"/>
                </a:lnTo>
                <a:lnTo>
                  <a:pt x="0" y="0"/>
                </a:lnTo>
                <a:close/>
              </a:path>
            </a:pathLst>
          </a:custGeom>
          <a:blipFill>
            <a:blip r:embed="rId2"/>
            <a:stretch>
              <a:fillRect l="0" t="0" r="0" b="0"/>
            </a:stretch>
          </a:blipFill>
        </p:spPr>
      </p:sp>
      <p:sp>
        <p:nvSpPr>
          <p:cNvPr name="Freeform 3" id="3"/>
          <p:cNvSpPr/>
          <p:nvPr/>
        </p:nvSpPr>
        <p:spPr>
          <a:xfrm flipH="false" flipV="false" rot="0">
            <a:off x="9535361" y="3565688"/>
            <a:ext cx="7408890" cy="6081092"/>
          </a:xfrm>
          <a:custGeom>
            <a:avLst/>
            <a:gdLst/>
            <a:ahLst/>
            <a:cxnLst/>
            <a:rect r="r" b="b" t="t" l="l"/>
            <a:pathLst>
              <a:path h="6081092" w="7408890">
                <a:moveTo>
                  <a:pt x="0" y="0"/>
                </a:moveTo>
                <a:lnTo>
                  <a:pt x="7408890" y="0"/>
                </a:lnTo>
                <a:lnTo>
                  <a:pt x="7408890" y="6081092"/>
                </a:lnTo>
                <a:lnTo>
                  <a:pt x="0" y="6081092"/>
                </a:lnTo>
                <a:lnTo>
                  <a:pt x="0" y="0"/>
                </a:lnTo>
                <a:close/>
              </a:path>
            </a:pathLst>
          </a:custGeom>
          <a:blipFill>
            <a:blip r:embed="rId3"/>
            <a:stretch>
              <a:fillRect l="0" t="0" r="0" b="0"/>
            </a:stretch>
          </a:blipFill>
        </p:spPr>
      </p:sp>
      <p:sp>
        <p:nvSpPr>
          <p:cNvPr name="TextBox 4" id="4"/>
          <p:cNvSpPr txBox="true"/>
          <p:nvPr/>
        </p:nvSpPr>
        <p:spPr>
          <a:xfrm rot="0">
            <a:off x="5940197" y="1677584"/>
            <a:ext cx="6407607" cy="482727"/>
          </a:xfrm>
          <a:prstGeom prst="rect">
            <a:avLst/>
          </a:prstGeom>
        </p:spPr>
        <p:txBody>
          <a:bodyPr anchor="t" rtlCol="false" tIns="0" lIns="0" bIns="0" rIns="0">
            <a:spAutoFit/>
          </a:bodyPr>
          <a:lstStyle/>
          <a:p>
            <a:pPr algn="l">
              <a:lnSpc>
                <a:spcPts val="3744"/>
              </a:lnSpc>
            </a:pPr>
            <a:r>
              <a:rPr lang="en-US" sz="3600" b="true">
                <a:solidFill>
                  <a:srgbClr val="102A33"/>
                </a:solidFill>
                <a:latin typeface="Montserrat Bold"/>
                <a:ea typeface="Montserrat Bold"/>
                <a:cs typeface="Montserrat Bold"/>
                <a:sym typeface="Montserrat Bold"/>
              </a:rPr>
              <a:t>Ma trận Confusion Matrix</a:t>
            </a:r>
          </a:p>
        </p:txBody>
      </p:sp>
      <p:sp>
        <p:nvSpPr>
          <p:cNvPr name="TextBox 5" id="5"/>
          <p:cNvSpPr txBox="true"/>
          <p:nvPr/>
        </p:nvSpPr>
        <p:spPr>
          <a:xfrm rot="0">
            <a:off x="3002797" y="435483"/>
            <a:ext cx="12434264"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So</a:t>
            </a:r>
            <a:r>
              <a:rPr lang="en-US" sz="4350" b="true">
                <a:solidFill>
                  <a:srgbClr val="1355B8"/>
                </a:solidFill>
                <a:latin typeface="Montserrat Bold"/>
                <a:ea typeface="Montserrat Bold"/>
                <a:cs typeface="Montserrat Bold"/>
                <a:sym typeface="Montserrat Bold"/>
              </a:rPr>
              <a:t> sánh 2 mô hình phân loại(Classification)</a:t>
            </a:r>
          </a:p>
        </p:txBody>
      </p:sp>
      <p:sp>
        <p:nvSpPr>
          <p:cNvPr name="TextBox 6" id="6"/>
          <p:cNvSpPr txBox="true"/>
          <p:nvPr/>
        </p:nvSpPr>
        <p:spPr>
          <a:xfrm rot="0">
            <a:off x="3002797" y="2799671"/>
            <a:ext cx="4026481" cy="327025"/>
          </a:xfrm>
          <a:prstGeom prst="rect">
            <a:avLst/>
          </a:prstGeom>
        </p:spPr>
        <p:txBody>
          <a:bodyPr anchor="t" rtlCol="false" tIns="0" lIns="0" bIns="0" rIns="0">
            <a:spAutoFit/>
          </a:bodyPr>
          <a:lstStyle/>
          <a:p>
            <a:pPr algn="l">
              <a:lnSpc>
                <a:spcPts val="2599"/>
              </a:lnSpc>
            </a:pPr>
            <a:r>
              <a:rPr lang="en-US" sz="2499" b="true">
                <a:solidFill>
                  <a:srgbClr val="102A33"/>
                </a:solidFill>
                <a:latin typeface="Montserrat Bold"/>
                <a:ea typeface="Montserrat Bold"/>
                <a:cs typeface="Montserrat Bold"/>
                <a:sym typeface="Montserrat Bold"/>
              </a:rPr>
              <a:t>LOGISTIC REGRESSION</a:t>
            </a:r>
          </a:p>
        </p:txBody>
      </p:sp>
      <p:sp>
        <p:nvSpPr>
          <p:cNvPr name="TextBox 7" id="7"/>
          <p:cNvSpPr txBox="true"/>
          <p:nvPr/>
        </p:nvSpPr>
        <p:spPr>
          <a:xfrm rot="0">
            <a:off x="11805105" y="2799671"/>
            <a:ext cx="2869403" cy="327025"/>
          </a:xfrm>
          <a:prstGeom prst="rect">
            <a:avLst/>
          </a:prstGeom>
        </p:spPr>
        <p:txBody>
          <a:bodyPr anchor="t" rtlCol="false" tIns="0" lIns="0" bIns="0" rIns="0">
            <a:spAutoFit/>
          </a:bodyPr>
          <a:lstStyle/>
          <a:p>
            <a:pPr algn="l">
              <a:lnSpc>
                <a:spcPts val="2599"/>
              </a:lnSpc>
            </a:pPr>
            <a:r>
              <a:rPr lang="en-US" sz="2499" b="true">
                <a:solidFill>
                  <a:srgbClr val="102A33"/>
                </a:solidFill>
                <a:latin typeface="Montserrat Bold"/>
                <a:ea typeface="Montserrat Bold"/>
                <a:cs typeface="Montserrat Bold"/>
                <a:sym typeface="Montserrat Bold"/>
              </a:rPr>
              <a:t>DECISION TREE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sp>
        <p:nvSpPr>
          <p:cNvPr name="Freeform 2" id="2"/>
          <p:cNvSpPr/>
          <p:nvPr/>
        </p:nvSpPr>
        <p:spPr>
          <a:xfrm flipH="false" flipV="false" rot="0">
            <a:off x="4172816" y="2582828"/>
            <a:ext cx="10094226" cy="7118741"/>
          </a:xfrm>
          <a:custGeom>
            <a:avLst/>
            <a:gdLst/>
            <a:ahLst/>
            <a:cxnLst/>
            <a:rect r="r" b="b" t="t" l="l"/>
            <a:pathLst>
              <a:path h="7118741" w="10094226">
                <a:moveTo>
                  <a:pt x="0" y="0"/>
                </a:moveTo>
                <a:lnTo>
                  <a:pt x="10094226" y="0"/>
                </a:lnTo>
                <a:lnTo>
                  <a:pt x="10094226" y="7118740"/>
                </a:lnTo>
                <a:lnTo>
                  <a:pt x="0" y="7118740"/>
                </a:lnTo>
                <a:lnTo>
                  <a:pt x="0" y="0"/>
                </a:lnTo>
                <a:close/>
              </a:path>
            </a:pathLst>
          </a:custGeom>
          <a:blipFill>
            <a:blip r:embed="rId2"/>
            <a:stretch>
              <a:fillRect l="0" t="-23" r="-3849" b="-5341"/>
            </a:stretch>
          </a:blipFill>
        </p:spPr>
      </p:sp>
      <p:sp>
        <p:nvSpPr>
          <p:cNvPr name="TextBox 3" id="3"/>
          <p:cNvSpPr txBox="true"/>
          <p:nvPr/>
        </p:nvSpPr>
        <p:spPr>
          <a:xfrm rot="0">
            <a:off x="6520237" y="1856058"/>
            <a:ext cx="5247526" cy="482727"/>
          </a:xfrm>
          <a:prstGeom prst="rect">
            <a:avLst/>
          </a:prstGeom>
        </p:spPr>
        <p:txBody>
          <a:bodyPr anchor="t" rtlCol="false" tIns="0" lIns="0" bIns="0" rIns="0">
            <a:spAutoFit/>
          </a:bodyPr>
          <a:lstStyle/>
          <a:p>
            <a:pPr algn="l">
              <a:lnSpc>
                <a:spcPts val="3744"/>
              </a:lnSpc>
            </a:pPr>
            <a:r>
              <a:rPr lang="en-US" sz="3600" b="true">
                <a:solidFill>
                  <a:srgbClr val="102A33"/>
                </a:solidFill>
                <a:latin typeface="Montserrat Bold"/>
                <a:ea typeface="Montserrat Bold"/>
                <a:cs typeface="Montserrat Bold"/>
                <a:sym typeface="Montserrat Bold"/>
              </a:rPr>
              <a:t>Classification Report</a:t>
            </a:r>
          </a:p>
        </p:txBody>
      </p:sp>
      <p:sp>
        <p:nvSpPr>
          <p:cNvPr name="TextBox 4" id="4"/>
          <p:cNvSpPr txBox="true"/>
          <p:nvPr/>
        </p:nvSpPr>
        <p:spPr>
          <a:xfrm rot="0">
            <a:off x="3002797" y="435483"/>
            <a:ext cx="12434264"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So</a:t>
            </a:r>
            <a:r>
              <a:rPr lang="en-US" sz="4350" b="true">
                <a:solidFill>
                  <a:srgbClr val="1355B8"/>
                </a:solidFill>
                <a:latin typeface="Montserrat Bold"/>
                <a:ea typeface="Montserrat Bold"/>
                <a:cs typeface="Montserrat Bold"/>
                <a:sym typeface="Montserrat Bold"/>
              </a:rPr>
              <a:t> sánh 2 mô hình phân loại(Classification)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4F0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072666" y="1520235"/>
          <a:ext cx="14063199" cy="3762375"/>
        </p:xfrm>
        <a:graphic>
          <a:graphicData uri="http://schemas.openxmlformats.org/drawingml/2006/table">
            <a:tbl>
              <a:tblPr/>
              <a:tblGrid>
                <a:gridCol w="4017815"/>
                <a:gridCol w="2358880"/>
                <a:gridCol w="2493753"/>
                <a:gridCol w="2491791"/>
                <a:gridCol w="2700962"/>
              </a:tblGrid>
              <a:tr h="1809019">
                <a:tc>
                  <a:txBody>
                    <a:bodyPr anchor="t" rtlCol="false"/>
                    <a:lstStyle/>
                    <a:p>
                      <a:pPr algn="ctr">
                        <a:lnSpc>
                          <a:spcPts val="3499"/>
                        </a:lnSpc>
                        <a:defRPr/>
                      </a:pPr>
                      <a:r>
                        <a:rPr lang="en-US" sz="2499" b="true">
                          <a:solidFill>
                            <a:srgbClr val="081C24"/>
                          </a:solidFill>
                          <a:latin typeface="Montserrat Bold"/>
                          <a:ea typeface="Montserrat Bold"/>
                          <a:cs typeface="Montserrat Bold"/>
                          <a:sym typeface="Montserrat Bold"/>
                        </a:rPr>
                        <a:t>Mô Hình Phân Loại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499"/>
                        </a:lnSpc>
                        <a:defRPr/>
                      </a:pPr>
                      <a:r>
                        <a:rPr lang="en-US" sz="2499" b="true">
                          <a:solidFill>
                            <a:srgbClr val="1B343D"/>
                          </a:solidFill>
                          <a:latin typeface="Montserrat Bold"/>
                          <a:ea typeface="Montserrat Bold"/>
                          <a:cs typeface="Montserrat Bold"/>
                          <a:sym typeface="Montserrat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499"/>
                        </a:lnSpc>
                        <a:defRPr/>
                      </a:pPr>
                      <a:endParaRPr lang="en-US" sz="1100"/>
                    </a:p>
                    <a:p>
                      <a:pPr algn="ctr">
                        <a:lnSpc>
                          <a:spcPts val="3499"/>
                        </a:lnSpc>
                      </a:pPr>
                      <a:r>
                        <a:rPr lang="en-US" sz="2499" b="true">
                          <a:solidFill>
                            <a:srgbClr val="1B343D"/>
                          </a:solidFill>
                          <a:latin typeface="Montserrat Bold"/>
                          <a:ea typeface="Montserrat Bold"/>
                          <a:cs typeface="Montserrat Bold"/>
                          <a:sym typeface="Montserrat Bold"/>
                        </a:rPr>
                        <a:t>Precision</a:t>
                      </a:r>
                    </a:p>
                    <a:p>
                      <a:pPr algn="ctr">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499"/>
                        </a:lnSpc>
                        <a:defRPr/>
                      </a:pPr>
                      <a:r>
                        <a:rPr lang="en-US" sz="2499" b="true">
                          <a:solidFill>
                            <a:srgbClr val="1B343D"/>
                          </a:solidFill>
                          <a:latin typeface="Montserrat Bold"/>
                          <a:ea typeface="Montserrat Bold"/>
                          <a:cs typeface="Montserrat Bold"/>
                          <a:sym typeface="Montserrat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499"/>
                        </a:lnSpc>
                        <a:defRPr/>
                      </a:pPr>
                      <a:endParaRPr lang="en-US" sz="1100"/>
                    </a:p>
                    <a:p>
                      <a:pPr algn="ctr">
                        <a:lnSpc>
                          <a:spcPts val="3499"/>
                        </a:lnSpc>
                      </a:pPr>
                      <a:r>
                        <a:rPr lang="en-US" sz="2499" b="true">
                          <a:solidFill>
                            <a:srgbClr val="1B343D"/>
                          </a:solidFill>
                          <a:latin typeface="Montserrat Bold"/>
                          <a:ea typeface="Montserrat Bold"/>
                          <a:cs typeface="Montserrat Bold"/>
                          <a:sym typeface="Montserrat Bold"/>
                        </a:rPr>
                        <a:t>F1-Score</a:t>
                      </a:r>
                    </a:p>
                    <a:p>
                      <a:pPr algn="ctr">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r>
              <a:tr h="923754">
                <a:tc>
                  <a:txBody>
                    <a:bodyPr anchor="t" rtlCol="false"/>
                    <a:lstStyle/>
                    <a:p>
                      <a:pPr algn="ctr">
                        <a:lnSpc>
                          <a:spcPts val="3499"/>
                        </a:lnSpc>
                        <a:defRPr/>
                      </a:pPr>
                      <a:r>
                        <a:rPr lang="en-US" sz="2499">
                          <a:solidFill>
                            <a:srgbClr val="000000"/>
                          </a:solidFill>
                          <a:latin typeface="Montserrat"/>
                          <a:ea typeface="Montserrat"/>
                          <a:cs typeface="Montserrat"/>
                          <a:sym typeface="Montserrat"/>
                        </a:rPr>
                        <a:t>Logistic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0.99 (99%)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0.98 (98%)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0.99 (99%)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9601">
                <a:tc>
                  <a:txBody>
                    <a:bodyPr anchor="t" rtlCol="false"/>
                    <a:lstStyle/>
                    <a:p>
                      <a:pPr algn="ctr">
                        <a:lnSpc>
                          <a:spcPts val="3499"/>
                        </a:lnSpc>
                        <a:defRPr/>
                      </a:pPr>
                      <a:r>
                        <a:rPr lang="en-US" sz="2499">
                          <a:solidFill>
                            <a:srgbClr val="000000"/>
                          </a:solidFill>
                          <a:latin typeface="Montserrat"/>
                          <a:ea typeface="Montserrat"/>
                          <a:cs typeface="Montserrat"/>
                          <a:sym typeface="Montserrat"/>
                        </a:rPr>
                        <a:t>Decision Tree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Montserrat"/>
                          <a:ea typeface="Montserrat"/>
                          <a:cs typeface="Montserrat"/>
                          <a:sym typeface="Montserrat"/>
                        </a:rPr>
                        <a:t>1.00 (100%)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5302802" y="545974"/>
            <a:ext cx="8039344" cy="515365"/>
          </a:xfrm>
          <a:prstGeom prst="rect">
            <a:avLst/>
          </a:prstGeom>
        </p:spPr>
        <p:txBody>
          <a:bodyPr anchor="t" rtlCol="false" tIns="0" lIns="0" bIns="0" rIns="0">
            <a:spAutoFit/>
          </a:bodyPr>
          <a:lstStyle/>
          <a:p>
            <a:pPr algn="l">
              <a:lnSpc>
                <a:spcPts val="3951"/>
              </a:lnSpc>
            </a:pPr>
            <a:r>
              <a:rPr lang="en-US" sz="3799" b="true">
                <a:solidFill>
                  <a:srgbClr val="102A33"/>
                </a:solidFill>
                <a:latin typeface="Montserrat Bold"/>
                <a:ea typeface="Montserrat Bold"/>
                <a:cs typeface="Montserrat Bold"/>
                <a:sym typeface="Montserrat Bold"/>
              </a:rPr>
              <a:t>Bảng chỉ số đánh giá phân loại</a:t>
            </a:r>
          </a:p>
        </p:txBody>
      </p:sp>
      <p:sp>
        <p:nvSpPr>
          <p:cNvPr name="TextBox 4" id="4"/>
          <p:cNvSpPr txBox="true"/>
          <p:nvPr/>
        </p:nvSpPr>
        <p:spPr>
          <a:xfrm rot="0">
            <a:off x="1534114" y="6235199"/>
            <a:ext cx="15353626" cy="1516380"/>
          </a:xfrm>
          <a:prstGeom prst="rect">
            <a:avLst/>
          </a:prstGeom>
        </p:spPr>
        <p:txBody>
          <a:bodyPr anchor="t" rtlCol="false" tIns="0" lIns="0" bIns="0" rIns="0">
            <a:spAutoFit/>
          </a:bodyPr>
          <a:lstStyle/>
          <a:p>
            <a:pPr algn="just">
              <a:lnSpc>
                <a:spcPts val="4050"/>
              </a:lnSpc>
            </a:pPr>
            <a:r>
              <a:rPr lang="en-US" sz="2700" spc="-54">
                <a:solidFill>
                  <a:srgbClr val="1B414D"/>
                </a:solidFill>
                <a:latin typeface="Montaser Arabic"/>
                <a:ea typeface="Montaser Arabic"/>
                <a:cs typeface="Montaser Arabic"/>
                <a:sym typeface="Montaser Arabic"/>
              </a:rPr>
              <a:t>- </a:t>
            </a:r>
            <a:r>
              <a:rPr lang="en-US" b="true" sz="2700" spc="-54">
                <a:solidFill>
                  <a:srgbClr val="1B414D"/>
                </a:solidFill>
                <a:latin typeface="Montaser Arabic Bold"/>
                <a:ea typeface="Montaser Arabic Bold"/>
                <a:cs typeface="Montaser Arabic Bold"/>
                <a:sym typeface="Montaser Arabic Bold"/>
              </a:rPr>
              <a:t>Logistic Regression: </a:t>
            </a:r>
            <a:r>
              <a:rPr lang="en-US" sz="2700" spc="-54">
                <a:solidFill>
                  <a:srgbClr val="1B414D"/>
                </a:solidFill>
                <a:latin typeface="Montaser Arabic"/>
                <a:ea typeface="Montaser Arabic"/>
                <a:cs typeface="Montaser Arabic"/>
                <a:sym typeface="Montaser Arabic"/>
              </a:rPr>
              <a:t>Mô hình dự đoán đúng phần lớn trường hợp, số lượng sai thấp. Tuy nhiên, Recall chưa hoàn hảo nên vẫn bỏ sót một số khách hàng “Có mua”. Ưu điểm là đơn giản, dễ triển khai và dễ giải thích</a:t>
            </a:r>
          </a:p>
        </p:txBody>
      </p:sp>
      <p:sp>
        <p:nvSpPr>
          <p:cNvPr name="TextBox 5" id="5"/>
          <p:cNvSpPr txBox="true"/>
          <p:nvPr/>
        </p:nvSpPr>
        <p:spPr>
          <a:xfrm rot="0">
            <a:off x="1028700" y="5467529"/>
            <a:ext cx="3791073" cy="573226"/>
          </a:xfrm>
          <a:prstGeom prst="rect">
            <a:avLst/>
          </a:prstGeom>
        </p:spPr>
        <p:txBody>
          <a:bodyPr anchor="t" rtlCol="false" tIns="0" lIns="0" bIns="0" rIns="0">
            <a:spAutoFit/>
          </a:bodyPr>
          <a:lstStyle/>
          <a:p>
            <a:pPr algn="l">
              <a:lnSpc>
                <a:spcPts val="4807"/>
              </a:lnSpc>
            </a:pPr>
            <a:r>
              <a:rPr lang="en-US" sz="3204" spc="-64" b="true">
                <a:solidFill>
                  <a:srgbClr val="1B414D"/>
                </a:solidFill>
                <a:latin typeface="Montaser Arabic Bold"/>
                <a:ea typeface="Montaser Arabic Bold"/>
                <a:cs typeface="Montaser Arabic Bold"/>
                <a:sym typeface="Montaser Arabic Bold"/>
              </a:rPr>
              <a:t>Kết luận: </a:t>
            </a:r>
          </a:p>
        </p:txBody>
      </p:sp>
      <p:sp>
        <p:nvSpPr>
          <p:cNvPr name="TextBox 6" id="6"/>
          <p:cNvSpPr txBox="true"/>
          <p:nvPr/>
        </p:nvSpPr>
        <p:spPr>
          <a:xfrm rot="0">
            <a:off x="1534114" y="8132579"/>
            <a:ext cx="15353626" cy="1516380"/>
          </a:xfrm>
          <a:prstGeom prst="rect">
            <a:avLst/>
          </a:prstGeom>
        </p:spPr>
        <p:txBody>
          <a:bodyPr anchor="t" rtlCol="false" tIns="0" lIns="0" bIns="0" rIns="0">
            <a:spAutoFit/>
          </a:bodyPr>
          <a:lstStyle/>
          <a:p>
            <a:pPr algn="just">
              <a:lnSpc>
                <a:spcPts val="4050"/>
              </a:lnSpc>
            </a:pPr>
            <a:r>
              <a:rPr lang="en-US" sz="2700" spc="-54">
                <a:solidFill>
                  <a:srgbClr val="1B414D"/>
                </a:solidFill>
                <a:latin typeface="Montaser Arabic"/>
                <a:ea typeface="Montaser Arabic"/>
                <a:cs typeface="Montaser Arabic"/>
                <a:sym typeface="Montaser Arabic"/>
              </a:rPr>
              <a:t>- </a:t>
            </a:r>
            <a:r>
              <a:rPr lang="en-US" b="true" sz="2700" spc="-54">
                <a:solidFill>
                  <a:srgbClr val="1B414D"/>
                </a:solidFill>
                <a:latin typeface="Montaser Arabic Bold"/>
                <a:ea typeface="Montaser Arabic Bold"/>
                <a:cs typeface="Montaser Arabic Bold"/>
                <a:sym typeface="Montaser Arabic Bold"/>
              </a:rPr>
              <a:t>Decision Tree:</a:t>
            </a:r>
            <a:r>
              <a:rPr lang="en-US" sz="2700" spc="-54">
                <a:solidFill>
                  <a:srgbClr val="1B414D"/>
                </a:solidFill>
                <a:latin typeface="Montaser Arabic"/>
                <a:ea typeface="Montaser Arabic"/>
                <a:cs typeface="Montaser Arabic"/>
                <a:sym typeface="Montaser Arabic"/>
              </a:rPr>
              <a:t> Mô hình có độ chính xác cao hơn Logistic Regression, số lượng phân loại sai cực ít. Recall gần như hoàn hảo, ít bỏ sót khách hàng “Có mua”. Nhược điểm tiềm ẩn là dễ overfitting nếu không kiểm soát độ sâu cây, nhưng trong trường hợp này kết quả rất tốt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748761" y="719190"/>
            <a:ext cx="12759182" cy="619021"/>
          </a:xfrm>
          <a:prstGeom prst="rect">
            <a:avLst/>
          </a:prstGeom>
        </p:spPr>
        <p:txBody>
          <a:bodyPr anchor="t" rtlCol="false" tIns="0" lIns="0" bIns="0" rIns="0">
            <a:spAutoFit/>
          </a:bodyPr>
          <a:lstStyle/>
          <a:p>
            <a:pPr algn="l">
              <a:lnSpc>
                <a:spcPts val="4920"/>
              </a:lnSpc>
            </a:pPr>
            <a:r>
              <a:rPr lang="en-US" sz="4100" b="true">
                <a:solidFill>
                  <a:srgbClr val="1355B8"/>
                </a:solidFill>
                <a:latin typeface="Montaser Arabic Semi-Bold"/>
                <a:ea typeface="Montaser Arabic Semi-Bold"/>
                <a:cs typeface="Montaser Arabic Semi-Bold"/>
                <a:sym typeface="Montaser Arabic Semi-Bold"/>
              </a:rPr>
              <a:t>Mô Hình Hoạt Động Tốt Nhất Dựa Trên Metrics</a:t>
            </a:r>
          </a:p>
        </p:txBody>
      </p:sp>
      <p:sp>
        <p:nvSpPr>
          <p:cNvPr name="Freeform 4" id="4"/>
          <p:cNvSpPr/>
          <p:nvPr/>
        </p:nvSpPr>
        <p:spPr>
          <a:xfrm flipH="false" flipV="false" rot="0">
            <a:off x="778805" y="2457662"/>
            <a:ext cx="7837850" cy="6620921"/>
          </a:xfrm>
          <a:custGeom>
            <a:avLst/>
            <a:gdLst/>
            <a:ahLst/>
            <a:cxnLst/>
            <a:rect r="r" b="b" t="t" l="l"/>
            <a:pathLst>
              <a:path h="6620921" w="7837850">
                <a:moveTo>
                  <a:pt x="0" y="0"/>
                </a:moveTo>
                <a:lnTo>
                  <a:pt x="7837850" y="0"/>
                </a:lnTo>
                <a:lnTo>
                  <a:pt x="7837850" y="6620921"/>
                </a:lnTo>
                <a:lnTo>
                  <a:pt x="0" y="6620921"/>
                </a:lnTo>
                <a:lnTo>
                  <a:pt x="0" y="0"/>
                </a:lnTo>
                <a:close/>
              </a:path>
            </a:pathLst>
          </a:custGeom>
          <a:blipFill>
            <a:blip r:embed="rId3"/>
            <a:stretch>
              <a:fillRect l="-69720" t="0" r="-90892" b="0"/>
            </a:stretch>
          </a:blipFill>
        </p:spPr>
      </p:sp>
      <p:sp>
        <p:nvSpPr>
          <p:cNvPr name="Freeform 5" id="5"/>
          <p:cNvSpPr/>
          <p:nvPr/>
        </p:nvSpPr>
        <p:spPr>
          <a:xfrm flipH="false" flipV="false" rot="0">
            <a:off x="8616655" y="2362297"/>
            <a:ext cx="242087" cy="4514911"/>
          </a:xfrm>
          <a:custGeom>
            <a:avLst/>
            <a:gdLst/>
            <a:ahLst/>
            <a:cxnLst/>
            <a:rect r="r" b="b" t="t" l="l"/>
            <a:pathLst>
              <a:path h="4514911" w="242087">
                <a:moveTo>
                  <a:pt x="0" y="0"/>
                </a:moveTo>
                <a:lnTo>
                  <a:pt x="242087" y="0"/>
                </a:lnTo>
                <a:lnTo>
                  <a:pt x="242087" y="4514911"/>
                </a:lnTo>
                <a:lnTo>
                  <a:pt x="0" y="4514911"/>
                </a:lnTo>
                <a:lnTo>
                  <a:pt x="0" y="0"/>
                </a:lnTo>
                <a:close/>
              </a:path>
            </a:pathLst>
          </a:custGeom>
          <a:blipFill>
            <a:blip r:embed="rId4"/>
            <a:stretch>
              <a:fillRect l="0" t="-40155" r="-62932" b="-40155"/>
            </a:stretch>
          </a:blipFill>
        </p:spPr>
      </p:sp>
      <p:sp>
        <p:nvSpPr>
          <p:cNvPr name="Freeform 6" id="6"/>
          <p:cNvSpPr/>
          <p:nvPr/>
        </p:nvSpPr>
        <p:spPr>
          <a:xfrm flipH="false" flipV="false" rot="0">
            <a:off x="14965001" y="-415679"/>
            <a:ext cx="3062584" cy="3006296"/>
          </a:xfrm>
          <a:custGeom>
            <a:avLst/>
            <a:gdLst/>
            <a:ahLst/>
            <a:cxnLst/>
            <a:rect r="r" b="b" t="t" l="l"/>
            <a:pathLst>
              <a:path h="3006296" w="3062584">
                <a:moveTo>
                  <a:pt x="0" y="0"/>
                </a:moveTo>
                <a:lnTo>
                  <a:pt x="3062584" y="0"/>
                </a:lnTo>
                <a:lnTo>
                  <a:pt x="3062584" y="3006297"/>
                </a:lnTo>
                <a:lnTo>
                  <a:pt x="0" y="3006297"/>
                </a:lnTo>
                <a:lnTo>
                  <a:pt x="0" y="0"/>
                </a:lnTo>
                <a:close/>
              </a:path>
            </a:pathLst>
          </a:custGeom>
          <a:blipFill>
            <a:blip r:embed="rId5"/>
            <a:stretch>
              <a:fillRect l="0" t="0" r="0" b="0"/>
            </a:stretch>
          </a:blipFill>
        </p:spPr>
      </p:sp>
      <p:sp>
        <p:nvSpPr>
          <p:cNvPr name="TextBox 7" id="7"/>
          <p:cNvSpPr txBox="true"/>
          <p:nvPr/>
        </p:nvSpPr>
        <p:spPr>
          <a:xfrm rot="0">
            <a:off x="1028700" y="2799454"/>
            <a:ext cx="3754311" cy="679364"/>
          </a:xfrm>
          <a:prstGeom prst="rect">
            <a:avLst/>
          </a:prstGeom>
        </p:spPr>
        <p:txBody>
          <a:bodyPr anchor="t" rtlCol="false" tIns="0" lIns="0" bIns="0" rIns="0">
            <a:spAutoFit/>
          </a:bodyPr>
          <a:lstStyle/>
          <a:p>
            <a:pPr algn="l">
              <a:lnSpc>
                <a:spcPts val="5780"/>
              </a:lnSpc>
            </a:pPr>
            <a:r>
              <a:rPr lang="en-US" sz="3399" spc="-33" b="true">
                <a:solidFill>
                  <a:srgbClr val="1B343D"/>
                </a:solidFill>
                <a:latin typeface="Montaser Arabic Semi-Bold"/>
                <a:ea typeface="Montaser Arabic Semi-Bold"/>
                <a:cs typeface="Montaser Arabic Semi-Bold"/>
                <a:sym typeface="Montaser Arabic Semi-Bold"/>
              </a:rPr>
              <a:t>Best Regression</a:t>
            </a:r>
          </a:p>
        </p:txBody>
      </p:sp>
      <p:sp>
        <p:nvSpPr>
          <p:cNvPr name="TextBox 8" id="8"/>
          <p:cNvSpPr txBox="true"/>
          <p:nvPr/>
        </p:nvSpPr>
        <p:spPr>
          <a:xfrm rot="0">
            <a:off x="1329636" y="3593118"/>
            <a:ext cx="3368094" cy="547174"/>
          </a:xfrm>
          <a:prstGeom prst="rect">
            <a:avLst/>
          </a:prstGeom>
        </p:spPr>
        <p:txBody>
          <a:bodyPr anchor="t" rtlCol="false" tIns="0" lIns="0" bIns="0" rIns="0">
            <a:spAutoFit/>
          </a:bodyPr>
          <a:lstStyle/>
          <a:p>
            <a:pPr algn="l">
              <a:lnSpc>
                <a:spcPts val="4692"/>
              </a:lnSpc>
            </a:pPr>
            <a:r>
              <a:rPr lang="en-US" sz="2759" spc="-26">
                <a:solidFill>
                  <a:srgbClr val="1B343D"/>
                </a:solidFill>
                <a:latin typeface="Montaser Arabic Light"/>
                <a:ea typeface="Montaser Arabic Light"/>
                <a:cs typeface="Montaser Arabic Light"/>
                <a:sym typeface="Montaser Arabic Light"/>
              </a:rPr>
              <a:t>Linear Regression</a:t>
            </a:r>
          </a:p>
        </p:txBody>
      </p:sp>
      <p:sp>
        <p:nvSpPr>
          <p:cNvPr name="TextBox 9" id="9"/>
          <p:cNvSpPr txBox="true"/>
          <p:nvPr/>
        </p:nvSpPr>
        <p:spPr>
          <a:xfrm rot="0">
            <a:off x="1503943" y="4543562"/>
            <a:ext cx="7475842" cy="568251"/>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R² Score: 0.81 (cao vượt trội so với 0.66)</a:t>
            </a:r>
          </a:p>
        </p:txBody>
      </p:sp>
      <p:sp>
        <p:nvSpPr>
          <p:cNvPr name="Freeform 10" id="10"/>
          <p:cNvSpPr/>
          <p:nvPr/>
        </p:nvSpPr>
        <p:spPr>
          <a:xfrm flipH="false" flipV="false" rot="0">
            <a:off x="943419" y="7439525"/>
            <a:ext cx="409335" cy="458796"/>
          </a:xfrm>
          <a:custGeom>
            <a:avLst/>
            <a:gdLst/>
            <a:ahLst/>
            <a:cxnLst/>
            <a:rect r="r" b="b" t="t" l="l"/>
            <a:pathLst>
              <a:path h="458796" w="409335">
                <a:moveTo>
                  <a:pt x="0" y="0"/>
                </a:moveTo>
                <a:lnTo>
                  <a:pt x="409335" y="0"/>
                </a:lnTo>
                <a:lnTo>
                  <a:pt x="409335" y="458795"/>
                </a:lnTo>
                <a:lnTo>
                  <a:pt x="0" y="458795"/>
                </a:lnTo>
                <a:lnTo>
                  <a:pt x="0" y="0"/>
                </a:lnTo>
                <a:close/>
              </a:path>
            </a:pathLst>
          </a:custGeom>
          <a:blipFill>
            <a:blip r:embed="rId6"/>
            <a:stretch>
              <a:fillRect l="0" t="0" r="0" b="0"/>
            </a:stretch>
          </a:blipFill>
        </p:spPr>
      </p:sp>
      <p:sp>
        <p:nvSpPr>
          <p:cNvPr name="Freeform 11" id="11"/>
          <p:cNvSpPr/>
          <p:nvPr/>
        </p:nvSpPr>
        <p:spPr>
          <a:xfrm flipH="false" flipV="false" rot="0">
            <a:off x="9336170" y="2457662"/>
            <a:ext cx="7837850" cy="6620921"/>
          </a:xfrm>
          <a:custGeom>
            <a:avLst/>
            <a:gdLst/>
            <a:ahLst/>
            <a:cxnLst/>
            <a:rect r="r" b="b" t="t" l="l"/>
            <a:pathLst>
              <a:path h="6620921" w="7837850">
                <a:moveTo>
                  <a:pt x="0" y="0"/>
                </a:moveTo>
                <a:lnTo>
                  <a:pt x="7837849" y="0"/>
                </a:lnTo>
                <a:lnTo>
                  <a:pt x="7837849" y="6620921"/>
                </a:lnTo>
                <a:lnTo>
                  <a:pt x="0" y="6620921"/>
                </a:lnTo>
                <a:lnTo>
                  <a:pt x="0" y="0"/>
                </a:lnTo>
                <a:close/>
              </a:path>
            </a:pathLst>
          </a:custGeom>
          <a:blipFill>
            <a:blip r:embed="rId3"/>
            <a:stretch>
              <a:fillRect l="-69720" t="0" r="-90892" b="0"/>
            </a:stretch>
          </a:blipFill>
        </p:spPr>
      </p:sp>
      <p:sp>
        <p:nvSpPr>
          <p:cNvPr name="Freeform 12" id="12"/>
          <p:cNvSpPr/>
          <p:nvPr/>
        </p:nvSpPr>
        <p:spPr>
          <a:xfrm flipH="false" flipV="false" rot="0">
            <a:off x="943419" y="5823182"/>
            <a:ext cx="409335" cy="458796"/>
          </a:xfrm>
          <a:custGeom>
            <a:avLst/>
            <a:gdLst/>
            <a:ahLst/>
            <a:cxnLst/>
            <a:rect r="r" b="b" t="t" l="l"/>
            <a:pathLst>
              <a:path h="458796" w="409335">
                <a:moveTo>
                  <a:pt x="0" y="0"/>
                </a:moveTo>
                <a:lnTo>
                  <a:pt x="409335" y="0"/>
                </a:lnTo>
                <a:lnTo>
                  <a:pt x="409335" y="458795"/>
                </a:lnTo>
                <a:lnTo>
                  <a:pt x="0" y="458795"/>
                </a:lnTo>
                <a:lnTo>
                  <a:pt x="0" y="0"/>
                </a:lnTo>
                <a:close/>
              </a:path>
            </a:pathLst>
          </a:custGeom>
          <a:blipFill>
            <a:blip r:embed="rId6"/>
            <a:stretch>
              <a:fillRect l="0" t="0" r="0" b="0"/>
            </a:stretch>
          </a:blipFill>
        </p:spPr>
      </p:sp>
      <p:sp>
        <p:nvSpPr>
          <p:cNvPr name="Freeform 13" id="13"/>
          <p:cNvSpPr/>
          <p:nvPr/>
        </p:nvSpPr>
        <p:spPr>
          <a:xfrm flipH="false" flipV="false" rot="0">
            <a:off x="920301" y="4684704"/>
            <a:ext cx="409335" cy="458796"/>
          </a:xfrm>
          <a:custGeom>
            <a:avLst/>
            <a:gdLst/>
            <a:ahLst/>
            <a:cxnLst/>
            <a:rect r="r" b="b" t="t" l="l"/>
            <a:pathLst>
              <a:path h="458796" w="409335">
                <a:moveTo>
                  <a:pt x="0" y="0"/>
                </a:moveTo>
                <a:lnTo>
                  <a:pt x="409335" y="0"/>
                </a:lnTo>
                <a:lnTo>
                  <a:pt x="409335" y="458796"/>
                </a:lnTo>
                <a:lnTo>
                  <a:pt x="0" y="458796"/>
                </a:lnTo>
                <a:lnTo>
                  <a:pt x="0" y="0"/>
                </a:lnTo>
                <a:close/>
              </a:path>
            </a:pathLst>
          </a:custGeom>
          <a:blipFill>
            <a:blip r:embed="rId6"/>
            <a:stretch>
              <a:fillRect l="0" t="0" r="0" b="0"/>
            </a:stretch>
          </a:blipFill>
        </p:spPr>
      </p:sp>
      <p:sp>
        <p:nvSpPr>
          <p:cNvPr name="TextBox 14" id="14"/>
          <p:cNvSpPr txBox="true"/>
          <p:nvPr/>
        </p:nvSpPr>
        <p:spPr>
          <a:xfrm rot="0">
            <a:off x="9633356" y="2799454"/>
            <a:ext cx="4104648" cy="679363"/>
          </a:xfrm>
          <a:prstGeom prst="rect">
            <a:avLst/>
          </a:prstGeom>
        </p:spPr>
        <p:txBody>
          <a:bodyPr anchor="t" rtlCol="false" tIns="0" lIns="0" bIns="0" rIns="0">
            <a:spAutoFit/>
          </a:bodyPr>
          <a:lstStyle/>
          <a:p>
            <a:pPr algn="l">
              <a:lnSpc>
                <a:spcPts val="5780"/>
              </a:lnSpc>
            </a:pPr>
            <a:r>
              <a:rPr lang="en-US" sz="3400" spc="-33" b="true">
                <a:solidFill>
                  <a:srgbClr val="1B343D"/>
                </a:solidFill>
                <a:latin typeface="Montaser Arabic Semi-Bold"/>
                <a:ea typeface="Montaser Arabic Semi-Bold"/>
                <a:cs typeface="Montaser Arabic Semi-Bold"/>
                <a:sym typeface="Montaser Arabic Semi-Bold"/>
              </a:rPr>
              <a:t>Best Classification</a:t>
            </a:r>
          </a:p>
        </p:txBody>
      </p:sp>
      <p:sp>
        <p:nvSpPr>
          <p:cNvPr name="TextBox 15" id="15"/>
          <p:cNvSpPr txBox="true"/>
          <p:nvPr/>
        </p:nvSpPr>
        <p:spPr>
          <a:xfrm rot="0">
            <a:off x="9966342" y="3593118"/>
            <a:ext cx="4792301" cy="547174"/>
          </a:xfrm>
          <a:prstGeom prst="rect">
            <a:avLst/>
          </a:prstGeom>
        </p:spPr>
        <p:txBody>
          <a:bodyPr anchor="t" rtlCol="false" tIns="0" lIns="0" bIns="0" rIns="0">
            <a:spAutoFit/>
          </a:bodyPr>
          <a:lstStyle/>
          <a:p>
            <a:pPr algn="l">
              <a:lnSpc>
                <a:spcPts val="4692"/>
              </a:lnSpc>
            </a:pPr>
            <a:r>
              <a:rPr lang="en-US" sz="2759" spc="-26">
                <a:solidFill>
                  <a:srgbClr val="1B343D"/>
                </a:solidFill>
                <a:latin typeface="Montaser Arabic Light"/>
                <a:ea typeface="Montaser Arabic Light"/>
                <a:cs typeface="Montaser Arabic Light"/>
                <a:sym typeface="Montaser Arabic Light"/>
              </a:rPr>
              <a:t>Decision Tree Classifier</a:t>
            </a:r>
          </a:p>
        </p:txBody>
      </p:sp>
      <p:sp>
        <p:nvSpPr>
          <p:cNvPr name="TextBox 16" id="16"/>
          <p:cNvSpPr txBox="true"/>
          <p:nvPr/>
        </p:nvSpPr>
        <p:spPr>
          <a:xfrm rot="0">
            <a:off x="10172700" y="4563302"/>
            <a:ext cx="6810053" cy="568251"/>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F1-Score: 99.73% (cao nhất)</a:t>
            </a:r>
          </a:p>
        </p:txBody>
      </p:sp>
      <p:sp>
        <p:nvSpPr>
          <p:cNvPr name="Freeform 17" id="17"/>
          <p:cNvSpPr/>
          <p:nvPr/>
        </p:nvSpPr>
        <p:spPr>
          <a:xfrm flipH="false" flipV="false" rot="0">
            <a:off x="9557008" y="4696652"/>
            <a:ext cx="409335" cy="458796"/>
          </a:xfrm>
          <a:custGeom>
            <a:avLst/>
            <a:gdLst/>
            <a:ahLst/>
            <a:cxnLst/>
            <a:rect r="r" b="b" t="t" l="l"/>
            <a:pathLst>
              <a:path h="458796" w="409335">
                <a:moveTo>
                  <a:pt x="0" y="0"/>
                </a:moveTo>
                <a:lnTo>
                  <a:pt x="409334" y="0"/>
                </a:lnTo>
                <a:lnTo>
                  <a:pt x="409334" y="458795"/>
                </a:lnTo>
                <a:lnTo>
                  <a:pt x="0" y="458795"/>
                </a:lnTo>
                <a:lnTo>
                  <a:pt x="0" y="0"/>
                </a:lnTo>
                <a:close/>
              </a:path>
            </a:pathLst>
          </a:custGeom>
          <a:blipFill>
            <a:blip r:embed="rId6"/>
            <a:stretch>
              <a:fillRect l="0" t="0" r="0" b="0"/>
            </a:stretch>
          </a:blipFill>
        </p:spPr>
      </p:sp>
      <p:sp>
        <p:nvSpPr>
          <p:cNvPr name="Freeform 18" id="18"/>
          <p:cNvSpPr/>
          <p:nvPr/>
        </p:nvSpPr>
        <p:spPr>
          <a:xfrm flipH="false" flipV="false" rot="0">
            <a:off x="9557008" y="5816471"/>
            <a:ext cx="415322" cy="465506"/>
          </a:xfrm>
          <a:custGeom>
            <a:avLst/>
            <a:gdLst/>
            <a:ahLst/>
            <a:cxnLst/>
            <a:rect r="r" b="b" t="t" l="l"/>
            <a:pathLst>
              <a:path h="465506" w="415322">
                <a:moveTo>
                  <a:pt x="0" y="0"/>
                </a:moveTo>
                <a:lnTo>
                  <a:pt x="415322" y="0"/>
                </a:lnTo>
                <a:lnTo>
                  <a:pt x="415322" y="465506"/>
                </a:lnTo>
                <a:lnTo>
                  <a:pt x="0" y="465506"/>
                </a:lnTo>
                <a:lnTo>
                  <a:pt x="0" y="0"/>
                </a:lnTo>
                <a:close/>
              </a:path>
            </a:pathLst>
          </a:custGeom>
          <a:blipFill>
            <a:blip r:embed="rId6"/>
            <a:stretch>
              <a:fillRect l="0" t="0" r="0" b="0"/>
            </a:stretch>
          </a:blipFill>
        </p:spPr>
      </p:sp>
      <p:sp>
        <p:nvSpPr>
          <p:cNvPr name="Freeform 19" id="19"/>
          <p:cNvSpPr/>
          <p:nvPr/>
        </p:nvSpPr>
        <p:spPr>
          <a:xfrm flipH="false" flipV="false" rot="0">
            <a:off x="9633356" y="7362715"/>
            <a:ext cx="415322" cy="465506"/>
          </a:xfrm>
          <a:custGeom>
            <a:avLst/>
            <a:gdLst/>
            <a:ahLst/>
            <a:cxnLst/>
            <a:rect r="r" b="b" t="t" l="l"/>
            <a:pathLst>
              <a:path h="465506" w="415322">
                <a:moveTo>
                  <a:pt x="0" y="0"/>
                </a:moveTo>
                <a:lnTo>
                  <a:pt x="415322" y="0"/>
                </a:lnTo>
                <a:lnTo>
                  <a:pt x="415322" y="465507"/>
                </a:lnTo>
                <a:lnTo>
                  <a:pt x="0" y="465507"/>
                </a:lnTo>
                <a:lnTo>
                  <a:pt x="0" y="0"/>
                </a:lnTo>
                <a:close/>
              </a:path>
            </a:pathLst>
          </a:custGeom>
          <a:blipFill>
            <a:blip r:embed="rId6"/>
            <a:stretch>
              <a:fillRect l="0" t="0" r="0" b="0"/>
            </a:stretch>
          </a:blipFill>
        </p:spPr>
      </p:sp>
      <p:sp>
        <p:nvSpPr>
          <p:cNvPr name="TextBox 20" id="20"/>
          <p:cNvSpPr txBox="true"/>
          <p:nvPr/>
        </p:nvSpPr>
        <p:spPr>
          <a:xfrm rot="0">
            <a:off x="1503943" y="5689832"/>
            <a:ext cx="7112712" cy="1187376"/>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RMSE: 11.58 (thấp hơn đáng kể so với 15.52)</a:t>
            </a:r>
          </a:p>
        </p:txBody>
      </p:sp>
      <p:sp>
        <p:nvSpPr>
          <p:cNvPr name="TextBox 21" id="21"/>
          <p:cNvSpPr txBox="true"/>
          <p:nvPr/>
        </p:nvSpPr>
        <p:spPr>
          <a:xfrm rot="0">
            <a:off x="1503943" y="7321477"/>
            <a:ext cx="7233755" cy="568251"/>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Sai số dự báo nhỏ và ổn định nhất.</a:t>
            </a:r>
          </a:p>
        </p:txBody>
      </p:sp>
      <p:sp>
        <p:nvSpPr>
          <p:cNvPr name="TextBox 22" id="22"/>
          <p:cNvSpPr txBox="true"/>
          <p:nvPr/>
        </p:nvSpPr>
        <p:spPr>
          <a:xfrm rot="0">
            <a:off x="10172700" y="7229365"/>
            <a:ext cx="7233755" cy="1187376"/>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Tối ưu hóa tối đa khả năng phát hiện mục tiêu.</a:t>
            </a:r>
          </a:p>
        </p:txBody>
      </p:sp>
      <p:sp>
        <p:nvSpPr>
          <p:cNvPr name="TextBox 23" id="23"/>
          <p:cNvSpPr txBox="true"/>
          <p:nvPr/>
        </p:nvSpPr>
        <p:spPr>
          <a:xfrm rot="0">
            <a:off x="10172700" y="5689832"/>
            <a:ext cx="7233755" cy="1187376"/>
          </a:xfrm>
          <a:prstGeom prst="rect">
            <a:avLst/>
          </a:prstGeom>
        </p:spPr>
        <p:txBody>
          <a:bodyPr anchor="t" rtlCol="false" tIns="0" lIns="0" bIns="0" rIns="0">
            <a:spAutoFit/>
          </a:bodyPr>
          <a:lstStyle/>
          <a:p>
            <a:pPr algn="l">
              <a:lnSpc>
                <a:spcPts val="4930"/>
              </a:lnSpc>
            </a:pPr>
            <a:r>
              <a:rPr lang="en-US" sz="2900" spc="-28">
                <a:solidFill>
                  <a:srgbClr val="1B343D"/>
                </a:solidFill>
                <a:latin typeface="Montaser Arabic"/>
                <a:ea typeface="Montaser Arabic"/>
                <a:cs typeface="Montaser Arabic"/>
                <a:sym typeface="Montaser Arabic"/>
              </a:rPr>
              <a:t>Recall: 99.84% (chỉ bỏ sót 3 mẫu trên tổng số 5,270)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sp>
        <p:nvSpPr>
          <p:cNvPr name="Freeform 3" id="3"/>
          <p:cNvSpPr/>
          <p:nvPr/>
        </p:nvSpPr>
        <p:spPr>
          <a:xfrm flipH="false" flipV="false" rot="-5400000">
            <a:off x="3645148" y="-1729790"/>
            <a:ext cx="10997703" cy="13746580"/>
          </a:xfrm>
          <a:custGeom>
            <a:avLst/>
            <a:gdLst/>
            <a:ahLst/>
            <a:cxnLst/>
            <a:rect r="r" b="b" t="t" l="l"/>
            <a:pathLst>
              <a:path h="13746580" w="10997703">
                <a:moveTo>
                  <a:pt x="0" y="0"/>
                </a:moveTo>
                <a:lnTo>
                  <a:pt x="10997704" y="0"/>
                </a:lnTo>
                <a:lnTo>
                  <a:pt x="10997704" y="13746580"/>
                </a:lnTo>
                <a:lnTo>
                  <a:pt x="0" y="13746580"/>
                </a:lnTo>
                <a:lnTo>
                  <a:pt x="0" y="0"/>
                </a:lnTo>
                <a:close/>
              </a:path>
            </a:pathLst>
          </a:custGeom>
          <a:blipFill>
            <a:blip r:embed="rId3"/>
            <a:stretch>
              <a:fillRect l="-8824" t="-16518" r="-8824" b="-16518"/>
            </a:stretch>
          </a:blipFill>
        </p:spPr>
      </p:sp>
      <p:sp>
        <p:nvSpPr>
          <p:cNvPr name="Freeform 4" id="4"/>
          <p:cNvSpPr/>
          <p:nvPr/>
        </p:nvSpPr>
        <p:spPr>
          <a:xfrm flipH="true" flipV="false" rot="0">
            <a:off x="-2561333" y="2240604"/>
            <a:ext cx="22454154" cy="8764886"/>
          </a:xfrm>
          <a:custGeom>
            <a:avLst/>
            <a:gdLst/>
            <a:ahLst/>
            <a:cxnLst/>
            <a:rect r="r" b="b" t="t" l="l"/>
            <a:pathLst>
              <a:path h="8764886" w="22454154">
                <a:moveTo>
                  <a:pt x="22454155" y="0"/>
                </a:moveTo>
                <a:lnTo>
                  <a:pt x="0" y="0"/>
                </a:lnTo>
                <a:lnTo>
                  <a:pt x="0" y="8764886"/>
                </a:lnTo>
                <a:lnTo>
                  <a:pt x="22454155" y="8764886"/>
                </a:lnTo>
                <a:lnTo>
                  <a:pt x="22454155" y="0"/>
                </a:lnTo>
                <a:close/>
              </a:path>
            </a:pathLst>
          </a:custGeom>
          <a:blipFill>
            <a:blip r:embed="rId4"/>
            <a:stretch>
              <a:fillRect l="-97126" t="0" r="0" b="0"/>
            </a:stretch>
          </a:blipFill>
        </p:spPr>
      </p:sp>
      <p:grpSp>
        <p:nvGrpSpPr>
          <p:cNvPr name="Group 5" id="5"/>
          <p:cNvGrpSpPr/>
          <p:nvPr/>
        </p:nvGrpSpPr>
        <p:grpSpPr>
          <a:xfrm rot="0">
            <a:off x="3679447" y="938621"/>
            <a:ext cx="1897136" cy="1897136"/>
            <a:chOff x="0" y="0"/>
            <a:chExt cx="2529515" cy="2529515"/>
          </a:xfrm>
        </p:grpSpPr>
        <p:grpSp>
          <p:nvGrpSpPr>
            <p:cNvPr name="Group 6" id="6"/>
            <p:cNvGrpSpPr/>
            <p:nvPr/>
          </p:nvGrpSpPr>
          <p:grpSpPr>
            <a:xfrm rot="0">
              <a:off x="0" y="0"/>
              <a:ext cx="2529515" cy="25295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4945" y="114945"/>
              <a:ext cx="2299624" cy="22996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36050"/>
              </a:solidFill>
              <a:ln w="19050" cap="sq">
                <a:solidFill>
                  <a:srgbClr val="FFF8E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3679447" y="809625"/>
            <a:ext cx="1740129" cy="1936054"/>
          </a:xfrm>
          <a:prstGeom prst="rect">
            <a:avLst/>
          </a:prstGeom>
        </p:spPr>
        <p:txBody>
          <a:bodyPr anchor="t" rtlCol="false" tIns="0" lIns="0" bIns="0" rIns="0">
            <a:spAutoFit/>
          </a:bodyPr>
          <a:lstStyle/>
          <a:p>
            <a:pPr algn="ctr">
              <a:lnSpc>
                <a:spcPts val="15801"/>
              </a:lnSpc>
              <a:spcBef>
                <a:spcPct val="0"/>
              </a:spcBef>
            </a:pPr>
            <a:r>
              <a:rPr lang="en-US" sz="11286">
                <a:solidFill>
                  <a:srgbClr val="FFF8EF"/>
                </a:solidFill>
                <a:latin typeface="Italianno"/>
                <a:ea typeface="Italianno"/>
                <a:cs typeface="Italianno"/>
                <a:sym typeface="Italianno"/>
              </a:rPr>
              <a:t>03</a:t>
            </a:r>
          </a:p>
        </p:txBody>
      </p:sp>
      <p:sp>
        <p:nvSpPr>
          <p:cNvPr name="TextBox 13" id="13"/>
          <p:cNvSpPr txBox="true"/>
          <p:nvPr/>
        </p:nvSpPr>
        <p:spPr>
          <a:xfrm rot="0">
            <a:off x="4688329" y="653085"/>
            <a:ext cx="10548137" cy="3089313"/>
          </a:xfrm>
          <a:prstGeom prst="rect">
            <a:avLst/>
          </a:prstGeom>
        </p:spPr>
        <p:txBody>
          <a:bodyPr anchor="t" rtlCol="false" tIns="0" lIns="0" bIns="0" rIns="0">
            <a:spAutoFit/>
          </a:bodyPr>
          <a:lstStyle/>
          <a:p>
            <a:pPr algn="ctr">
              <a:lnSpc>
                <a:spcPts val="12346"/>
              </a:lnSpc>
            </a:pPr>
            <a:r>
              <a:rPr lang="en-US" sz="9497" b="true">
                <a:solidFill>
                  <a:srgbClr val="645135"/>
                </a:solidFill>
                <a:latin typeface="Be Vietnam Ultra-Bold"/>
                <a:ea typeface="Be Vietnam Ultra-Bold"/>
                <a:cs typeface="Be Vietnam Ultra-Bold"/>
                <a:sym typeface="Be Vietnam Ultra-Bold"/>
              </a:rPr>
              <a:t>UI</a:t>
            </a:r>
            <a:r>
              <a:rPr lang="en-US" b="true" sz="9497">
                <a:solidFill>
                  <a:srgbClr val="645135"/>
                </a:solidFill>
                <a:latin typeface="Be Vietnam Ultra-Bold"/>
                <a:ea typeface="Be Vietnam Ultra-Bold"/>
                <a:cs typeface="Be Vietnam Ultra-Bold"/>
                <a:sym typeface="Be Vietnam Ultra-Bold"/>
              </a:rPr>
              <a:t> &amp; Business Value</a:t>
            </a:r>
          </a:p>
        </p:txBody>
      </p:sp>
      <p:sp>
        <p:nvSpPr>
          <p:cNvPr name="Freeform 14" id="14"/>
          <p:cNvSpPr/>
          <p:nvPr/>
        </p:nvSpPr>
        <p:spPr>
          <a:xfrm flipH="true" flipV="false" rot="0">
            <a:off x="680033" y="5143500"/>
            <a:ext cx="5544395" cy="3889283"/>
          </a:xfrm>
          <a:custGeom>
            <a:avLst/>
            <a:gdLst/>
            <a:ahLst/>
            <a:cxnLst/>
            <a:rect r="r" b="b" t="t" l="l"/>
            <a:pathLst>
              <a:path h="3889283" w="5544395">
                <a:moveTo>
                  <a:pt x="5544395" y="0"/>
                </a:moveTo>
                <a:lnTo>
                  <a:pt x="0" y="0"/>
                </a:lnTo>
                <a:lnTo>
                  <a:pt x="0" y="3889283"/>
                </a:lnTo>
                <a:lnTo>
                  <a:pt x="5544395" y="3889283"/>
                </a:lnTo>
                <a:lnTo>
                  <a:pt x="5544395"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8468122" y="1258010"/>
            <a:ext cx="4654233" cy="2502824"/>
          </a:xfrm>
          <a:custGeom>
            <a:avLst/>
            <a:gdLst/>
            <a:ahLst/>
            <a:cxnLst/>
            <a:rect r="r" b="b" t="t" l="l"/>
            <a:pathLst>
              <a:path h="2502824" w="4654233">
                <a:moveTo>
                  <a:pt x="0" y="0"/>
                </a:moveTo>
                <a:lnTo>
                  <a:pt x="4654234" y="0"/>
                </a:lnTo>
                <a:lnTo>
                  <a:pt x="4654234" y="2502824"/>
                </a:lnTo>
                <a:lnTo>
                  <a:pt x="0" y="2502824"/>
                </a:lnTo>
                <a:lnTo>
                  <a:pt x="0" y="0"/>
                </a:lnTo>
                <a:close/>
              </a:path>
            </a:pathLst>
          </a:custGeom>
          <a:blipFill>
            <a:blip r:embed="rId2"/>
            <a:stretch>
              <a:fillRect l="0" t="-2275" r="0" b="-2275"/>
            </a:stretch>
          </a:blipFill>
        </p:spPr>
      </p:sp>
      <p:sp>
        <p:nvSpPr>
          <p:cNvPr name="Freeform 3" id="3"/>
          <p:cNvSpPr/>
          <p:nvPr/>
        </p:nvSpPr>
        <p:spPr>
          <a:xfrm flipH="false" flipV="false" rot="0">
            <a:off x="13122356" y="1258010"/>
            <a:ext cx="4451637" cy="2502824"/>
          </a:xfrm>
          <a:custGeom>
            <a:avLst/>
            <a:gdLst/>
            <a:ahLst/>
            <a:cxnLst/>
            <a:rect r="r" b="b" t="t" l="l"/>
            <a:pathLst>
              <a:path h="2502824" w="4451637">
                <a:moveTo>
                  <a:pt x="0" y="0"/>
                </a:moveTo>
                <a:lnTo>
                  <a:pt x="4451637" y="0"/>
                </a:lnTo>
                <a:lnTo>
                  <a:pt x="4451637" y="2502824"/>
                </a:lnTo>
                <a:lnTo>
                  <a:pt x="0" y="2502824"/>
                </a:lnTo>
                <a:lnTo>
                  <a:pt x="0" y="0"/>
                </a:lnTo>
                <a:close/>
              </a:path>
            </a:pathLst>
          </a:custGeom>
          <a:blipFill>
            <a:blip r:embed="rId3"/>
            <a:stretch>
              <a:fillRect l="0" t="0" r="0" b="0"/>
            </a:stretch>
          </a:blipFill>
        </p:spPr>
      </p:sp>
      <p:sp>
        <p:nvSpPr>
          <p:cNvPr name="Freeform 4" id="4"/>
          <p:cNvSpPr/>
          <p:nvPr/>
        </p:nvSpPr>
        <p:spPr>
          <a:xfrm flipH="false" flipV="false" rot="0">
            <a:off x="8468122" y="3778687"/>
            <a:ext cx="4654233" cy="2616729"/>
          </a:xfrm>
          <a:custGeom>
            <a:avLst/>
            <a:gdLst/>
            <a:ahLst/>
            <a:cxnLst/>
            <a:rect r="r" b="b" t="t" l="l"/>
            <a:pathLst>
              <a:path h="2616729" w="4654233">
                <a:moveTo>
                  <a:pt x="0" y="0"/>
                </a:moveTo>
                <a:lnTo>
                  <a:pt x="4654234" y="0"/>
                </a:lnTo>
                <a:lnTo>
                  <a:pt x="4654234" y="2616729"/>
                </a:lnTo>
                <a:lnTo>
                  <a:pt x="0" y="2616729"/>
                </a:lnTo>
                <a:lnTo>
                  <a:pt x="0" y="0"/>
                </a:lnTo>
                <a:close/>
              </a:path>
            </a:pathLst>
          </a:custGeom>
          <a:blipFill>
            <a:blip r:embed="rId4"/>
            <a:stretch>
              <a:fillRect l="0" t="0" r="0" b="0"/>
            </a:stretch>
          </a:blipFill>
        </p:spPr>
      </p:sp>
      <p:sp>
        <p:nvSpPr>
          <p:cNvPr name="Freeform 5" id="5"/>
          <p:cNvSpPr/>
          <p:nvPr/>
        </p:nvSpPr>
        <p:spPr>
          <a:xfrm flipH="false" flipV="false" rot="0">
            <a:off x="13122356" y="3778687"/>
            <a:ext cx="4451637" cy="2502824"/>
          </a:xfrm>
          <a:custGeom>
            <a:avLst/>
            <a:gdLst/>
            <a:ahLst/>
            <a:cxnLst/>
            <a:rect r="r" b="b" t="t" l="l"/>
            <a:pathLst>
              <a:path h="2502824" w="4451637">
                <a:moveTo>
                  <a:pt x="0" y="0"/>
                </a:moveTo>
                <a:lnTo>
                  <a:pt x="4451637" y="0"/>
                </a:lnTo>
                <a:lnTo>
                  <a:pt x="4451637" y="2502824"/>
                </a:lnTo>
                <a:lnTo>
                  <a:pt x="0" y="2502824"/>
                </a:lnTo>
                <a:lnTo>
                  <a:pt x="0" y="0"/>
                </a:lnTo>
                <a:close/>
              </a:path>
            </a:pathLst>
          </a:custGeom>
          <a:blipFill>
            <a:blip r:embed="rId5"/>
            <a:stretch>
              <a:fillRect l="0" t="0" r="0" b="0"/>
            </a:stretch>
          </a:blipFill>
        </p:spPr>
      </p:sp>
      <p:sp>
        <p:nvSpPr>
          <p:cNvPr name="Freeform 6" id="6"/>
          <p:cNvSpPr/>
          <p:nvPr/>
        </p:nvSpPr>
        <p:spPr>
          <a:xfrm flipH="false" flipV="false" rot="0">
            <a:off x="8468122" y="6415668"/>
            <a:ext cx="4654233" cy="2613321"/>
          </a:xfrm>
          <a:custGeom>
            <a:avLst/>
            <a:gdLst/>
            <a:ahLst/>
            <a:cxnLst/>
            <a:rect r="r" b="b" t="t" l="l"/>
            <a:pathLst>
              <a:path h="2613321" w="4654233">
                <a:moveTo>
                  <a:pt x="0" y="0"/>
                </a:moveTo>
                <a:lnTo>
                  <a:pt x="4654234" y="0"/>
                </a:lnTo>
                <a:lnTo>
                  <a:pt x="4654234" y="2613322"/>
                </a:lnTo>
                <a:lnTo>
                  <a:pt x="0" y="2613322"/>
                </a:lnTo>
                <a:lnTo>
                  <a:pt x="0" y="0"/>
                </a:lnTo>
                <a:close/>
              </a:path>
            </a:pathLst>
          </a:custGeom>
          <a:blipFill>
            <a:blip r:embed="rId6"/>
            <a:stretch>
              <a:fillRect l="0" t="0" r="0" b="0"/>
            </a:stretch>
          </a:blipFill>
        </p:spPr>
      </p:sp>
      <p:sp>
        <p:nvSpPr>
          <p:cNvPr name="Freeform 7" id="7"/>
          <p:cNvSpPr/>
          <p:nvPr/>
        </p:nvSpPr>
        <p:spPr>
          <a:xfrm flipH="false" flipV="false" rot="0">
            <a:off x="13122356" y="6395416"/>
            <a:ext cx="4451637" cy="2502824"/>
          </a:xfrm>
          <a:custGeom>
            <a:avLst/>
            <a:gdLst/>
            <a:ahLst/>
            <a:cxnLst/>
            <a:rect r="r" b="b" t="t" l="l"/>
            <a:pathLst>
              <a:path h="2502824" w="4451637">
                <a:moveTo>
                  <a:pt x="0" y="0"/>
                </a:moveTo>
                <a:lnTo>
                  <a:pt x="4451637" y="0"/>
                </a:lnTo>
                <a:lnTo>
                  <a:pt x="4451637" y="2502823"/>
                </a:lnTo>
                <a:lnTo>
                  <a:pt x="0" y="2502823"/>
                </a:lnTo>
                <a:lnTo>
                  <a:pt x="0" y="0"/>
                </a:lnTo>
                <a:close/>
              </a:path>
            </a:pathLst>
          </a:custGeom>
          <a:blipFill>
            <a:blip r:embed="rId7"/>
            <a:stretch>
              <a:fillRect l="0" t="0" r="0" b="0"/>
            </a:stretch>
          </a:blipFill>
        </p:spPr>
      </p:sp>
      <p:sp>
        <p:nvSpPr>
          <p:cNvPr name="TextBox 8" id="8"/>
          <p:cNvSpPr txBox="true"/>
          <p:nvPr/>
        </p:nvSpPr>
        <p:spPr>
          <a:xfrm rot="0">
            <a:off x="717776" y="3822918"/>
            <a:ext cx="7048500" cy="2458593"/>
          </a:xfrm>
          <a:prstGeom prst="rect">
            <a:avLst/>
          </a:prstGeom>
        </p:spPr>
        <p:txBody>
          <a:bodyPr anchor="t" rtlCol="false" tIns="0" lIns="0" bIns="0" rIns="0">
            <a:spAutoFit/>
          </a:bodyPr>
          <a:lstStyle/>
          <a:p>
            <a:pPr algn="ctr">
              <a:lnSpc>
                <a:spcPts val="6396"/>
              </a:lnSpc>
            </a:pPr>
            <a:r>
              <a:rPr lang="en-US" sz="6150" b="true">
                <a:solidFill>
                  <a:srgbClr val="FFFFFF"/>
                </a:solidFill>
                <a:latin typeface="Montserrat Bold"/>
                <a:ea typeface="Montserrat Bold"/>
                <a:cs typeface="Montserrat Bold"/>
                <a:sym typeface="Montserrat Bold"/>
              </a:rPr>
              <a:t>Xây dựng giao diện và tích hợp MODEL</a:t>
            </a:r>
          </a:p>
        </p:txBody>
      </p:sp>
    </p:spTree>
  </p:cSld>
  <p:clrMapOvr>
    <a:masterClrMapping/>
  </p:clrMapOvr>
  <p:transition spd="slow">
    <p:push dir="u"/>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2110234" y="1599891"/>
            <a:ext cx="14067533" cy="7909125"/>
          </a:xfrm>
          <a:custGeom>
            <a:avLst/>
            <a:gdLst/>
            <a:ahLst/>
            <a:cxnLst/>
            <a:rect r="r" b="b" t="t" l="l"/>
            <a:pathLst>
              <a:path h="7909125" w="14067533">
                <a:moveTo>
                  <a:pt x="0" y="0"/>
                </a:moveTo>
                <a:lnTo>
                  <a:pt x="14067532" y="0"/>
                </a:lnTo>
                <a:lnTo>
                  <a:pt x="14067532" y="7909125"/>
                </a:lnTo>
                <a:lnTo>
                  <a:pt x="0" y="7909125"/>
                </a:lnTo>
                <a:lnTo>
                  <a:pt x="0" y="0"/>
                </a:lnTo>
                <a:close/>
              </a:path>
            </a:pathLst>
          </a:custGeom>
          <a:blipFill>
            <a:blip r:embed="rId2"/>
            <a:stretch>
              <a:fillRect l="0" t="0" r="0" b="0"/>
            </a:stretch>
          </a:blipFill>
        </p:spPr>
      </p:sp>
      <p:sp>
        <p:nvSpPr>
          <p:cNvPr name="TextBox 3" id="3"/>
          <p:cNvSpPr txBox="true"/>
          <p:nvPr/>
        </p:nvSpPr>
        <p:spPr>
          <a:xfrm rot="0">
            <a:off x="5743912" y="499110"/>
            <a:ext cx="6800175"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01  PCA &amp; khám phá cụm dữ liệu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2008383" y="1573832"/>
            <a:ext cx="14271234" cy="8023651"/>
          </a:xfrm>
          <a:custGeom>
            <a:avLst/>
            <a:gdLst/>
            <a:ahLst/>
            <a:cxnLst/>
            <a:rect r="r" b="b" t="t" l="l"/>
            <a:pathLst>
              <a:path h="8023651" w="14271234">
                <a:moveTo>
                  <a:pt x="0" y="0"/>
                </a:moveTo>
                <a:lnTo>
                  <a:pt x="14271234" y="0"/>
                </a:lnTo>
                <a:lnTo>
                  <a:pt x="14271234" y="8023652"/>
                </a:lnTo>
                <a:lnTo>
                  <a:pt x="0" y="8023652"/>
                </a:lnTo>
                <a:lnTo>
                  <a:pt x="0" y="0"/>
                </a:lnTo>
                <a:close/>
              </a:path>
            </a:pathLst>
          </a:custGeom>
          <a:blipFill>
            <a:blip r:embed="rId2"/>
            <a:stretch>
              <a:fillRect l="0" t="0" r="0" b="0"/>
            </a:stretch>
          </a:blipFill>
        </p:spPr>
      </p:sp>
      <p:sp>
        <p:nvSpPr>
          <p:cNvPr name="TextBox 3" id="3"/>
          <p:cNvSpPr txBox="true"/>
          <p:nvPr/>
        </p:nvSpPr>
        <p:spPr>
          <a:xfrm rot="0">
            <a:off x="6083102" y="499110"/>
            <a:ext cx="6121795"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02 Biểu đồ phân cụm 2D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1880905" y="1460769"/>
            <a:ext cx="14526190" cy="8166994"/>
          </a:xfrm>
          <a:custGeom>
            <a:avLst/>
            <a:gdLst/>
            <a:ahLst/>
            <a:cxnLst/>
            <a:rect r="r" b="b" t="t" l="l"/>
            <a:pathLst>
              <a:path h="8166994" w="14526190">
                <a:moveTo>
                  <a:pt x="0" y="0"/>
                </a:moveTo>
                <a:lnTo>
                  <a:pt x="14526190" y="0"/>
                </a:lnTo>
                <a:lnTo>
                  <a:pt x="14526190" y="8166994"/>
                </a:lnTo>
                <a:lnTo>
                  <a:pt x="0" y="8166994"/>
                </a:lnTo>
                <a:lnTo>
                  <a:pt x="0" y="0"/>
                </a:lnTo>
                <a:close/>
              </a:path>
            </a:pathLst>
          </a:custGeom>
          <a:blipFill>
            <a:blip r:embed="rId2"/>
            <a:stretch>
              <a:fillRect l="0" t="0" r="0" b="0"/>
            </a:stretch>
          </a:blipFill>
        </p:spPr>
      </p:sp>
      <p:sp>
        <p:nvSpPr>
          <p:cNvPr name="TextBox 3" id="3"/>
          <p:cNvSpPr txBox="true"/>
          <p:nvPr/>
        </p:nvSpPr>
        <p:spPr>
          <a:xfrm rot="0">
            <a:off x="3214119" y="464820"/>
            <a:ext cx="11859761"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03 Dự đoán sức mua sản phẩm bằng Linear Regression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1801034" y="1354953"/>
            <a:ext cx="14685932" cy="8256805"/>
          </a:xfrm>
          <a:custGeom>
            <a:avLst/>
            <a:gdLst/>
            <a:ahLst/>
            <a:cxnLst/>
            <a:rect r="r" b="b" t="t" l="l"/>
            <a:pathLst>
              <a:path h="8256805" w="14685932">
                <a:moveTo>
                  <a:pt x="0" y="0"/>
                </a:moveTo>
                <a:lnTo>
                  <a:pt x="14685932" y="0"/>
                </a:lnTo>
                <a:lnTo>
                  <a:pt x="14685932" y="8256805"/>
                </a:lnTo>
                <a:lnTo>
                  <a:pt x="0" y="8256805"/>
                </a:lnTo>
                <a:lnTo>
                  <a:pt x="0" y="0"/>
                </a:lnTo>
                <a:close/>
              </a:path>
            </a:pathLst>
          </a:custGeom>
          <a:blipFill>
            <a:blip r:embed="rId2"/>
            <a:stretch>
              <a:fillRect l="0" t="0" r="0" b="0"/>
            </a:stretch>
          </a:blipFill>
        </p:spPr>
      </p:sp>
      <p:sp>
        <p:nvSpPr>
          <p:cNvPr name="TextBox 3" id="3"/>
          <p:cNvSpPr txBox="true"/>
          <p:nvPr/>
        </p:nvSpPr>
        <p:spPr>
          <a:xfrm rot="0">
            <a:off x="2817644" y="464820"/>
            <a:ext cx="12652712"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04 Dự đoán sức mua sản phẩm bằng Decision Tree Regressor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1881371" y="1493683"/>
            <a:ext cx="14525258" cy="8155836"/>
          </a:xfrm>
          <a:custGeom>
            <a:avLst/>
            <a:gdLst/>
            <a:ahLst/>
            <a:cxnLst/>
            <a:rect r="r" b="b" t="t" l="l"/>
            <a:pathLst>
              <a:path h="8155836" w="14525258">
                <a:moveTo>
                  <a:pt x="0" y="0"/>
                </a:moveTo>
                <a:lnTo>
                  <a:pt x="14525258" y="0"/>
                </a:lnTo>
                <a:lnTo>
                  <a:pt x="14525258" y="8155836"/>
                </a:lnTo>
                <a:lnTo>
                  <a:pt x="0" y="8155836"/>
                </a:lnTo>
                <a:lnTo>
                  <a:pt x="0" y="0"/>
                </a:lnTo>
                <a:close/>
              </a:path>
            </a:pathLst>
          </a:custGeom>
          <a:blipFill>
            <a:blip r:embed="rId2"/>
            <a:stretch>
              <a:fillRect l="0" t="0" r="0" b="0"/>
            </a:stretch>
          </a:blipFill>
        </p:spPr>
      </p:sp>
      <p:sp>
        <p:nvSpPr>
          <p:cNvPr name="TextBox 3" id="3"/>
          <p:cNvSpPr txBox="true"/>
          <p:nvPr/>
        </p:nvSpPr>
        <p:spPr>
          <a:xfrm rot="0">
            <a:off x="3083613" y="464820"/>
            <a:ext cx="12120774"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05 Dự đoán khả năng mua hàng bằng Logistic Regression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81C24"/>
        </a:solidFill>
      </p:bgPr>
    </p:bg>
    <p:spTree>
      <p:nvGrpSpPr>
        <p:cNvPr id="1" name=""/>
        <p:cNvGrpSpPr/>
        <p:nvPr/>
      </p:nvGrpSpPr>
      <p:grpSpPr>
        <a:xfrm>
          <a:off x="0" y="0"/>
          <a:ext cx="0" cy="0"/>
          <a:chOff x="0" y="0"/>
          <a:chExt cx="0" cy="0"/>
        </a:xfrm>
      </p:grpSpPr>
      <p:sp>
        <p:nvSpPr>
          <p:cNvPr name="Freeform 2" id="2"/>
          <p:cNvSpPr/>
          <p:nvPr/>
        </p:nvSpPr>
        <p:spPr>
          <a:xfrm flipH="false" flipV="false" rot="0">
            <a:off x="1506487" y="1234642"/>
            <a:ext cx="15275025" cy="8588008"/>
          </a:xfrm>
          <a:custGeom>
            <a:avLst/>
            <a:gdLst/>
            <a:ahLst/>
            <a:cxnLst/>
            <a:rect r="r" b="b" t="t" l="l"/>
            <a:pathLst>
              <a:path h="8588008" w="15275025">
                <a:moveTo>
                  <a:pt x="0" y="0"/>
                </a:moveTo>
                <a:lnTo>
                  <a:pt x="15275026" y="0"/>
                </a:lnTo>
                <a:lnTo>
                  <a:pt x="15275026" y="8588008"/>
                </a:lnTo>
                <a:lnTo>
                  <a:pt x="0" y="8588008"/>
                </a:lnTo>
                <a:lnTo>
                  <a:pt x="0" y="0"/>
                </a:lnTo>
                <a:close/>
              </a:path>
            </a:pathLst>
          </a:custGeom>
          <a:blipFill>
            <a:blip r:embed="rId2"/>
            <a:stretch>
              <a:fillRect l="0" t="0" r="0" b="0"/>
            </a:stretch>
          </a:blipFill>
        </p:spPr>
      </p:sp>
      <p:sp>
        <p:nvSpPr>
          <p:cNvPr name="TextBox 3" id="3"/>
          <p:cNvSpPr txBox="true"/>
          <p:nvPr/>
        </p:nvSpPr>
        <p:spPr>
          <a:xfrm rot="0">
            <a:off x="2507417" y="464820"/>
            <a:ext cx="12653652" cy="563880"/>
          </a:xfrm>
          <a:prstGeom prst="rect">
            <a:avLst/>
          </a:prstGeom>
        </p:spPr>
        <p:txBody>
          <a:bodyPr anchor="t" rtlCol="false" tIns="0" lIns="0" bIns="0" rIns="0">
            <a:spAutoFit/>
          </a:bodyPr>
          <a:lstStyle/>
          <a:p>
            <a:pPr algn="ctr">
              <a:lnSpc>
                <a:spcPts val="4589"/>
              </a:lnSpc>
            </a:pPr>
            <a:r>
              <a:rPr lang="en-US" sz="3399">
                <a:solidFill>
                  <a:srgbClr val="FFFFFF"/>
                </a:solidFill>
                <a:latin typeface="Open Sans"/>
                <a:ea typeface="Open Sans"/>
                <a:cs typeface="Open Sans"/>
                <a:sym typeface="Open Sans"/>
              </a:rPr>
              <a:t>06 Dự  đoán khả năng mua hàng bằng Decision Tree Classifier</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4F0E8"/>
        </a:solidFill>
      </p:bgPr>
    </p:bg>
    <p:spTree>
      <p:nvGrpSpPr>
        <p:cNvPr id="1" name=""/>
        <p:cNvGrpSpPr/>
        <p:nvPr/>
      </p:nvGrpSpPr>
      <p:grpSpPr>
        <a:xfrm>
          <a:off x="0" y="0"/>
          <a:ext cx="0" cy="0"/>
          <a:chOff x="0" y="0"/>
          <a:chExt cx="0" cy="0"/>
        </a:xfrm>
      </p:grpSpPr>
      <p:sp>
        <p:nvSpPr>
          <p:cNvPr name="TextBox 2" id="2"/>
          <p:cNvSpPr txBox="true"/>
          <p:nvPr/>
        </p:nvSpPr>
        <p:spPr>
          <a:xfrm rot="0">
            <a:off x="952500" y="977593"/>
            <a:ext cx="5614870" cy="593217"/>
          </a:xfrm>
          <a:prstGeom prst="rect">
            <a:avLst/>
          </a:prstGeom>
        </p:spPr>
        <p:txBody>
          <a:bodyPr anchor="t" rtlCol="false" tIns="0" lIns="0" bIns="0" rIns="0">
            <a:spAutoFit/>
          </a:bodyPr>
          <a:lstStyle/>
          <a:p>
            <a:pPr algn="l">
              <a:lnSpc>
                <a:spcPts val="4524"/>
              </a:lnSpc>
            </a:pPr>
            <a:r>
              <a:rPr lang="en-US" sz="4350" b="true">
                <a:solidFill>
                  <a:srgbClr val="1355B8"/>
                </a:solidFill>
                <a:latin typeface="Montserrat Bold"/>
                <a:ea typeface="Montserrat Bold"/>
                <a:cs typeface="Montserrat Bold"/>
                <a:sym typeface="Montserrat Bold"/>
              </a:rPr>
              <a:t>Đề xuất nâng cao </a:t>
            </a:r>
          </a:p>
        </p:txBody>
      </p:sp>
      <p:grpSp>
        <p:nvGrpSpPr>
          <p:cNvPr name="Group 3" id="3"/>
          <p:cNvGrpSpPr/>
          <p:nvPr/>
        </p:nvGrpSpPr>
        <p:grpSpPr>
          <a:xfrm rot="0">
            <a:off x="952500" y="2381250"/>
            <a:ext cx="3810000" cy="3978750"/>
            <a:chOff x="0" y="0"/>
            <a:chExt cx="5080000" cy="5305000"/>
          </a:xfrm>
        </p:grpSpPr>
        <p:grpSp>
          <p:nvGrpSpPr>
            <p:cNvPr name="Group 4" id="4"/>
            <p:cNvGrpSpPr/>
            <p:nvPr/>
          </p:nvGrpSpPr>
          <p:grpSpPr>
            <a:xfrm rot="0">
              <a:off x="0" y="0"/>
              <a:ext cx="5080000" cy="5305000"/>
              <a:chOff x="0" y="0"/>
              <a:chExt cx="5080000" cy="5305000"/>
            </a:xfrm>
          </p:grpSpPr>
          <p:sp>
            <p:nvSpPr>
              <p:cNvPr name="Freeform 5" id="5"/>
              <p:cNvSpPr/>
              <p:nvPr/>
            </p:nvSpPr>
            <p:spPr>
              <a:xfrm flipH="false" flipV="false" rot="0">
                <a:off x="0" y="0"/>
                <a:ext cx="5080000" cy="5305000"/>
              </a:xfrm>
              <a:custGeom>
                <a:avLst/>
                <a:gdLst/>
                <a:ahLst/>
                <a:cxnLst/>
                <a:rect r="r" b="b" t="t" l="l"/>
                <a:pathLst>
                  <a:path h="5305000" w="5080000">
                    <a:moveTo>
                      <a:pt x="0" y="0"/>
                    </a:moveTo>
                    <a:lnTo>
                      <a:pt x="5080000" y="0"/>
                    </a:lnTo>
                    <a:lnTo>
                      <a:pt x="5080000" y="5305000"/>
                    </a:lnTo>
                    <a:lnTo>
                      <a:pt x="0" y="5305000"/>
                    </a:lnTo>
                    <a:close/>
                  </a:path>
                </a:pathLst>
              </a:custGeom>
              <a:solidFill>
                <a:srgbClr val="FFFFFF"/>
              </a:solidFill>
              <a:ln cap="sq">
                <a:noFill/>
                <a:prstDash val="solid"/>
                <a:miter/>
              </a:ln>
            </p:spPr>
          </p:sp>
          <p:sp>
            <p:nvSpPr>
              <p:cNvPr name="TextBox 6" id="6"/>
              <p:cNvSpPr txBox="true"/>
              <p:nvPr/>
            </p:nvSpPr>
            <p:spPr>
              <a:xfrm>
                <a:off x="0" y="-38100"/>
                <a:ext cx="5080000" cy="5343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0" y="0"/>
              <a:ext cx="5080000" cy="228600"/>
              <a:chOff x="0" y="0"/>
              <a:chExt cx="5080000" cy="228600"/>
            </a:xfrm>
          </p:grpSpPr>
          <p:sp>
            <p:nvSpPr>
              <p:cNvPr name="Freeform 8" id="8"/>
              <p:cNvSpPr/>
              <p:nvPr/>
            </p:nvSpPr>
            <p:spPr>
              <a:xfrm flipH="false" flipV="false" rot="0">
                <a:off x="0" y="0"/>
                <a:ext cx="5080000" cy="228600"/>
              </a:xfrm>
              <a:custGeom>
                <a:avLst/>
                <a:gdLst/>
                <a:ahLst/>
                <a:cxnLst/>
                <a:rect r="r" b="b" t="t" l="l"/>
                <a:pathLst>
                  <a:path h="228600" w="5080000">
                    <a:moveTo>
                      <a:pt x="0" y="0"/>
                    </a:moveTo>
                    <a:lnTo>
                      <a:pt x="5080000" y="0"/>
                    </a:lnTo>
                    <a:lnTo>
                      <a:pt x="5080000" y="228600"/>
                    </a:lnTo>
                    <a:lnTo>
                      <a:pt x="0" y="228600"/>
                    </a:lnTo>
                    <a:close/>
                  </a:path>
                </a:pathLst>
              </a:custGeom>
              <a:solidFill>
                <a:srgbClr val="6E7D80"/>
              </a:solidFill>
              <a:ln cap="sq">
                <a:noFill/>
                <a:prstDash val="solid"/>
                <a:miter/>
              </a:ln>
            </p:spPr>
          </p:sp>
          <p:sp>
            <p:nvSpPr>
              <p:cNvPr name="TextBox 9" id="9"/>
              <p:cNvSpPr txBox="true"/>
              <p:nvPr/>
            </p:nvSpPr>
            <p:spPr>
              <a:xfrm>
                <a:off x="0" y="-38100"/>
                <a:ext cx="5080000" cy="2667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381000" y="596900"/>
              <a:ext cx="4318000" cy="484293"/>
            </a:xfrm>
            <a:prstGeom prst="rect">
              <a:avLst/>
            </a:prstGeom>
          </p:spPr>
          <p:txBody>
            <a:bodyPr anchor="t" rtlCol="false" tIns="0" lIns="0" bIns="0" rIns="0">
              <a:spAutoFit/>
            </a:bodyPr>
            <a:lstStyle/>
            <a:p>
              <a:pPr algn="l">
                <a:lnSpc>
                  <a:spcPts val="3079"/>
                </a:lnSpc>
              </a:pPr>
              <a:r>
                <a:rPr lang="en-US" sz="2199" spc="175" b="true">
                  <a:solidFill>
                    <a:srgbClr val="13B8A6"/>
                  </a:solidFill>
                  <a:latin typeface="IBM Plex Mono Bold"/>
                  <a:ea typeface="IBM Plex Mono Bold"/>
                  <a:cs typeface="IBM Plex Mono Bold"/>
                  <a:sym typeface="IBM Plex Mono Bold"/>
                </a:rPr>
                <a:t>Cluster 0</a:t>
              </a:r>
            </a:p>
          </p:txBody>
        </p:sp>
        <p:sp>
          <p:nvSpPr>
            <p:cNvPr name="TextBox 11" id="11"/>
            <p:cNvSpPr txBox="true"/>
            <p:nvPr/>
          </p:nvSpPr>
          <p:spPr>
            <a:xfrm rot="0">
              <a:off x="381000" y="1525693"/>
              <a:ext cx="4318000" cy="919988"/>
            </a:xfrm>
            <a:prstGeom prst="rect">
              <a:avLst/>
            </a:prstGeom>
          </p:spPr>
          <p:txBody>
            <a:bodyPr anchor="t" rtlCol="false" tIns="0" lIns="0" bIns="0" rIns="0">
              <a:spAutoFit/>
            </a:bodyPr>
            <a:lstStyle/>
            <a:p>
              <a:pPr algn="l">
                <a:lnSpc>
                  <a:spcPts val="2652"/>
                </a:lnSpc>
              </a:pPr>
              <a:r>
                <a:rPr lang="en-US" sz="2550" b="true">
                  <a:solidFill>
                    <a:srgbClr val="102A33"/>
                  </a:solidFill>
                  <a:latin typeface="Montserrat Bold"/>
                  <a:ea typeface="Montserrat Bold"/>
                  <a:cs typeface="Montserrat Bold"/>
                  <a:sym typeface="Montserrat Bold"/>
                </a:rPr>
                <a:t>Khách hàng ít tương tác</a:t>
              </a:r>
            </a:p>
          </p:txBody>
        </p:sp>
        <p:sp>
          <p:nvSpPr>
            <p:cNvPr name="TextBox 12" id="12"/>
            <p:cNvSpPr txBox="true"/>
            <p:nvPr/>
          </p:nvSpPr>
          <p:spPr>
            <a:xfrm rot="0">
              <a:off x="381000" y="2823506"/>
              <a:ext cx="4318000" cy="2076450"/>
            </a:xfrm>
            <a:prstGeom prst="rect">
              <a:avLst/>
            </a:prstGeom>
          </p:spPr>
          <p:txBody>
            <a:bodyPr anchor="t" rtlCol="false" tIns="0" lIns="0" bIns="0" rIns="0">
              <a:spAutoFit/>
            </a:bodyPr>
            <a:lstStyle/>
            <a:p>
              <a:pPr algn="just">
                <a:lnSpc>
                  <a:spcPts val="2531"/>
                </a:lnSpc>
              </a:pPr>
              <a:r>
                <a:rPr lang="en-US" sz="1875">
                  <a:solidFill>
                    <a:srgbClr val="102A33"/>
                  </a:solidFill>
                  <a:latin typeface="Open Sans"/>
                  <a:ea typeface="Open Sans"/>
                  <a:cs typeface="Open Sans"/>
                  <a:sym typeface="Open Sans"/>
                </a:rPr>
                <a:t>Triển khai chiến dịch marketing kích cầu (quảng cáo, email giới thiệu sản phẩm mới) để khơi gợi nhu cầu tiềm năng.</a:t>
              </a:r>
            </a:p>
          </p:txBody>
        </p:sp>
      </p:grpSp>
      <p:grpSp>
        <p:nvGrpSpPr>
          <p:cNvPr name="Group 13" id="13"/>
          <p:cNvGrpSpPr/>
          <p:nvPr/>
        </p:nvGrpSpPr>
        <p:grpSpPr>
          <a:xfrm rot="0">
            <a:off x="5143500" y="2381250"/>
            <a:ext cx="3810000" cy="3983342"/>
            <a:chOff x="0" y="0"/>
            <a:chExt cx="5080000" cy="5311122"/>
          </a:xfrm>
        </p:grpSpPr>
        <p:grpSp>
          <p:nvGrpSpPr>
            <p:cNvPr name="Group 14" id="14"/>
            <p:cNvGrpSpPr/>
            <p:nvPr/>
          </p:nvGrpSpPr>
          <p:grpSpPr>
            <a:xfrm rot="0">
              <a:off x="0" y="0"/>
              <a:ext cx="5080000" cy="5311122"/>
              <a:chOff x="0" y="0"/>
              <a:chExt cx="5080000" cy="5311122"/>
            </a:xfrm>
          </p:grpSpPr>
          <p:sp>
            <p:nvSpPr>
              <p:cNvPr name="Freeform 15" id="15"/>
              <p:cNvSpPr/>
              <p:nvPr/>
            </p:nvSpPr>
            <p:spPr>
              <a:xfrm flipH="false" flipV="false" rot="0">
                <a:off x="0" y="0"/>
                <a:ext cx="5080000" cy="5311122"/>
              </a:xfrm>
              <a:custGeom>
                <a:avLst/>
                <a:gdLst/>
                <a:ahLst/>
                <a:cxnLst/>
                <a:rect r="r" b="b" t="t" l="l"/>
                <a:pathLst>
                  <a:path h="5311122" w="5080000">
                    <a:moveTo>
                      <a:pt x="0" y="0"/>
                    </a:moveTo>
                    <a:lnTo>
                      <a:pt x="5080000" y="0"/>
                    </a:lnTo>
                    <a:lnTo>
                      <a:pt x="5080000" y="5311122"/>
                    </a:lnTo>
                    <a:lnTo>
                      <a:pt x="0" y="5311122"/>
                    </a:lnTo>
                    <a:close/>
                  </a:path>
                </a:pathLst>
              </a:custGeom>
              <a:solidFill>
                <a:srgbClr val="FFFFFF"/>
              </a:solidFill>
              <a:ln cap="sq">
                <a:noFill/>
                <a:prstDash val="solid"/>
                <a:miter/>
              </a:ln>
            </p:spPr>
          </p:sp>
          <p:sp>
            <p:nvSpPr>
              <p:cNvPr name="TextBox 16" id="16"/>
              <p:cNvSpPr txBox="true"/>
              <p:nvPr/>
            </p:nvSpPr>
            <p:spPr>
              <a:xfrm>
                <a:off x="0" y="-38100"/>
                <a:ext cx="5080000" cy="5349222"/>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0" y="0"/>
              <a:ext cx="5080000" cy="228600"/>
              <a:chOff x="0" y="0"/>
              <a:chExt cx="5080000" cy="228600"/>
            </a:xfrm>
          </p:grpSpPr>
          <p:sp>
            <p:nvSpPr>
              <p:cNvPr name="Freeform 18" id="18"/>
              <p:cNvSpPr/>
              <p:nvPr/>
            </p:nvSpPr>
            <p:spPr>
              <a:xfrm flipH="false" flipV="false" rot="0">
                <a:off x="0" y="0"/>
                <a:ext cx="5080000" cy="228600"/>
              </a:xfrm>
              <a:custGeom>
                <a:avLst/>
                <a:gdLst/>
                <a:ahLst/>
                <a:cxnLst/>
                <a:rect r="r" b="b" t="t" l="l"/>
                <a:pathLst>
                  <a:path h="228600" w="5080000">
                    <a:moveTo>
                      <a:pt x="0" y="0"/>
                    </a:moveTo>
                    <a:lnTo>
                      <a:pt x="5080000" y="0"/>
                    </a:lnTo>
                    <a:lnTo>
                      <a:pt x="5080000" y="228600"/>
                    </a:lnTo>
                    <a:lnTo>
                      <a:pt x="0" y="228600"/>
                    </a:lnTo>
                    <a:close/>
                  </a:path>
                </a:pathLst>
              </a:custGeom>
              <a:solidFill>
                <a:srgbClr val="3F7CAC"/>
              </a:solidFill>
              <a:ln cap="sq">
                <a:noFill/>
                <a:prstDash val="solid"/>
                <a:miter/>
              </a:ln>
            </p:spPr>
          </p:sp>
          <p:sp>
            <p:nvSpPr>
              <p:cNvPr name="TextBox 19" id="19"/>
              <p:cNvSpPr txBox="true"/>
              <p:nvPr/>
            </p:nvSpPr>
            <p:spPr>
              <a:xfrm>
                <a:off x="0" y="-38100"/>
                <a:ext cx="5080000" cy="2667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381000" y="596900"/>
              <a:ext cx="4318000" cy="484293"/>
            </a:xfrm>
            <a:prstGeom prst="rect">
              <a:avLst/>
            </a:prstGeom>
          </p:spPr>
          <p:txBody>
            <a:bodyPr anchor="t" rtlCol="false" tIns="0" lIns="0" bIns="0" rIns="0">
              <a:spAutoFit/>
            </a:bodyPr>
            <a:lstStyle/>
            <a:p>
              <a:pPr algn="l">
                <a:lnSpc>
                  <a:spcPts val="3079"/>
                </a:lnSpc>
              </a:pPr>
              <a:r>
                <a:rPr lang="en-US" sz="2199" spc="175" b="true">
                  <a:solidFill>
                    <a:srgbClr val="13B8A6"/>
                  </a:solidFill>
                  <a:latin typeface="IBM Plex Mono Bold"/>
                  <a:ea typeface="IBM Plex Mono Bold"/>
                  <a:cs typeface="IBM Plex Mono Bold"/>
                  <a:sym typeface="IBM Plex Mono Bold"/>
                </a:rPr>
                <a:t>Cluster 1</a:t>
              </a:r>
            </a:p>
          </p:txBody>
        </p:sp>
        <p:sp>
          <p:nvSpPr>
            <p:cNvPr name="TextBox 21" id="21"/>
            <p:cNvSpPr txBox="true"/>
            <p:nvPr/>
          </p:nvSpPr>
          <p:spPr>
            <a:xfrm rot="0">
              <a:off x="381000" y="1525693"/>
              <a:ext cx="4318000" cy="919988"/>
            </a:xfrm>
            <a:prstGeom prst="rect">
              <a:avLst/>
            </a:prstGeom>
          </p:spPr>
          <p:txBody>
            <a:bodyPr anchor="t" rtlCol="false" tIns="0" lIns="0" bIns="0" rIns="0">
              <a:spAutoFit/>
            </a:bodyPr>
            <a:lstStyle/>
            <a:p>
              <a:pPr algn="l">
                <a:lnSpc>
                  <a:spcPts val="2652"/>
                </a:lnSpc>
              </a:pPr>
              <a:r>
                <a:rPr lang="en-US" sz="2550" b="true">
                  <a:solidFill>
                    <a:srgbClr val="102A33"/>
                  </a:solidFill>
                  <a:latin typeface="Montserrat Bold"/>
                  <a:ea typeface="Montserrat Bold"/>
                  <a:cs typeface="Montserrat Bold"/>
                  <a:sym typeface="Montserrat Bold"/>
                </a:rPr>
                <a:t>Khách hàng quan tâm nhưng ít mua</a:t>
              </a:r>
            </a:p>
          </p:txBody>
        </p:sp>
        <p:sp>
          <p:nvSpPr>
            <p:cNvPr name="TextBox 22" id="22"/>
            <p:cNvSpPr txBox="true"/>
            <p:nvPr/>
          </p:nvSpPr>
          <p:spPr>
            <a:xfrm rot="0">
              <a:off x="381000" y="2927143"/>
              <a:ext cx="4318000" cy="1657350"/>
            </a:xfrm>
            <a:prstGeom prst="rect">
              <a:avLst/>
            </a:prstGeom>
          </p:spPr>
          <p:txBody>
            <a:bodyPr anchor="t" rtlCol="false" tIns="0" lIns="0" bIns="0" rIns="0">
              <a:spAutoFit/>
            </a:bodyPr>
            <a:lstStyle/>
            <a:p>
              <a:pPr algn="just">
                <a:lnSpc>
                  <a:spcPts val="2531"/>
                </a:lnSpc>
              </a:pPr>
              <a:r>
                <a:rPr lang="en-US" sz="1875">
                  <a:solidFill>
                    <a:srgbClr val="102A33"/>
                  </a:solidFill>
                  <a:latin typeface="Open Sans"/>
                  <a:ea typeface="Open Sans"/>
                  <a:cs typeface="Open Sans"/>
                  <a:sym typeface="Open Sans"/>
                </a:rPr>
                <a:t>Tối ưu chuyển đổi bằng khuyến mãi, giảm phí ship, hoặc gửi thông báo nhắc nhở giỏ hàng.</a:t>
              </a:r>
            </a:p>
          </p:txBody>
        </p:sp>
      </p:grpSp>
      <p:grpSp>
        <p:nvGrpSpPr>
          <p:cNvPr name="Group 23" id="23"/>
          <p:cNvGrpSpPr/>
          <p:nvPr/>
        </p:nvGrpSpPr>
        <p:grpSpPr>
          <a:xfrm rot="0">
            <a:off x="9334500" y="2381250"/>
            <a:ext cx="3810000" cy="3945532"/>
            <a:chOff x="0" y="0"/>
            <a:chExt cx="5080000" cy="5260709"/>
          </a:xfrm>
        </p:grpSpPr>
        <p:grpSp>
          <p:nvGrpSpPr>
            <p:cNvPr name="Group 24" id="24"/>
            <p:cNvGrpSpPr/>
            <p:nvPr/>
          </p:nvGrpSpPr>
          <p:grpSpPr>
            <a:xfrm rot="0">
              <a:off x="0" y="0"/>
              <a:ext cx="5080000" cy="5260709"/>
              <a:chOff x="0" y="0"/>
              <a:chExt cx="5080000" cy="5260709"/>
            </a:xfrm>
          </p:grpSpPr>
          <p:sp>
            <p:nvSpPr>
              <p:cNvPr name="Freeform 25" id="25"/>
              <p:cNvSpPr/>
              <p:nvPr/>
            </p:nvSpPr>
            <p:spPr>
              <a:xfrm flipH="false" flipV="false" rot="0">
                <a:off x="0" y="0"/>
                <a:ext cx="5080000" cy="5260710"/>
              </a:xfrm>
              <a:custGeom>
                <a:avLst/>
                <a:gdLst/>
                <a:ahLst/>
                <a:cxnLst/>
                <a:rect r="r" b="b" t="t" l="l"/>
                <a:pathLst>
                  <a:path h="5260710" w="5080000">
                    <a:moveTo>
                      <a:pt x="0" y="0"/>
                    </a:moveTo>
                    <a:lnTo>
                      <a:pt x="5080000" y="0"/>
                    </a:lnTo>
                    <a:lnTo>
                      <a:pt x="5080000" y="5260710"/>
                    </a:lnTo>
                    <a:lnTo>
                      <a:pt x="0" y="5260710"/>
                    </a:lnTo>
                    <a:close/>
                  </a:path>
                </a:pathLst>
              </a:custGeom>
              <a:solidFill>
                <a:srgbClr val="FFFFFF"/>
              </a:solidFill>
              <a:ln cap="sq">
                <a:noFill/>
                <a:prstDash val="solid"/>
                <a:miter/>
              </a:ln>
            </p:spPr>
          </p:sp>
          <p:sp>
            <p:nvSpPr>
              <p:cNvPr name="TextBox 26" id="26"/>
              <p:cNvSpPr txBox="true"/>
              <p:nvPr/>
            </p:nvSpPr>
            <p:spPr>
              <a:xfrm>
                <a:off x="0" y="-38100"/>
                <a:ext cx="5080000" cy="5298809"/>
              </a:xfrm>
              <a:prstGeom prst="rect">
                <a:avLst/>
              </a:prstGeom>
            </p:spPr>
            <p:txBody>
              <a:bodyPr anchor="ctr" rtlCol="false" tIns="50800" lIns="50800" bIns="50800" rIns="50800"/>
              <a:lstStyle/>
              <a:p>
                <a:pPr algn="just">
                  <a:lnSpc>
                    <a:spcPts val="1679"/>
                  </a:lnSpc>
                </a:pPr>
              </a:p>
            </p:txBody>
          </p:sp>
        </p:grpSp>
        <p:grpSp>
          <p:nvGrpSpPr>
            <p:cNvPr name="Group 27" id="27"/>
            <p:cNvGrpSpPr/>
            <p:nvPr/>
          </p:nvGrpSpPr>
          <p:grpSpPr>
            <a:xfrm rot="0">
              <a:off x="0" y="0"/>
              <a:ext cx="5080000" cy="228600"/>
              <a:chOff x="0" y="0"/>
              <a:chExt cx="5080000" cy="228600"/>
            </a:xfrm>
          </p:grpSpPr>
          <p:sp>
            <p:nvSpPr>
              <p:cNvPr name="Freeform 28" id="28"/>
              <p:cNvSpPr/>
              <p:nvPr/>
            </p:nvSpPr>
            <p:spPr>
              <a:xfrm flipH="false" flipV="false" rot="0">
                <a:off x="0" y="0"/>
                <a:ext cx="5080000" cy="228600"/>
              </a:xfrm>
              <a:custGeom>
                <a:avLst/>
                <a:gdLst/>
                <a:ahLst/>
                <a:cxnLst/>
                <a:rect r="r" b="b" t="t" l="l"/>
                <a:pathLst>
                  <a:path h="228600" w="5080000">
                    <a:moveTo>
                      <a:pt x="0" y="0"/>
                    </a:moveTo>
                    <a:lnTo>
                      <a:pt x="5080000" y="0"/>
                    </a:lnTo>
                    <a:lnTo>
                      <a:pt x="5080000" y="228600"/>
                    </a:lnTo>
                    <a:lnTo>
                      <a:pt x="0" y="228600"/>
                    </a:lnTo>
                    <a:close/>
                  </a:path>
                </a:pathLst>
              </a:custGeom>
              <a:solidFill>
                <a:srgbClr val="13B8A6"/>
              </a:solidFill>
              <a:ln cap="sq">
                <a:noFill/>
                <a:prstDash val="solid"/>
                <a:miter/>
              </a:ln>
            </p:spPr>
          </p:sp>
          <p:sp>
            <p:nvSpPr>
              <p:cNvPr name="TextBox 29" id="29"/>
              <p:cNvSpPr txBox="true"/>
              <p:nvPr/>
            </p:nvSpPr>
            <p:spPr>
              <a:xfrm>
                <a:off x="0" y="-38100"/>
                <a:ext cx="5080000" cy="266700"/>
              </a:xfrm>
              <a:prstGeom prst="rect">
                <a:avLst/>
              </a:prstGeom>
            </p:spPr>
            <p:txBody>
              <a:bodyPr anchor="ctr" rtlCol="false" tIns="50800" lIns="50800" bIns="50800" rIns="50800"/>
              <a:lstStyle/>
              <a:p>
                <a:pPr algn="just">
                  <a:lnSpc>
                    <a:spcPts val="1679"/>
                  </a:lnSpc>
                </a:pPr>
              </a:p>
            </p:txBody>
          </p:sp>
        </p:grpSp>
        <p:sp>
          <p:nvSpPr>
            <p:cNvPr name="TextBox 30" id="30"/>
            <p:cNvSpPr txBox="true"/>
            <p:nvPr/>
          </p:nvSpPr>
          <p:spPr>
            <a:xfrm rot="0">
              <a:off x="381000" y="596900"/>
              <a:ext cx="4318000" cy="484293"/>
            </a:xfrm>
            <a:prstGeom prst="rect">
              <a:avLst/>
            </a:prstGeom>
          </p:spPr>
          <p:txBody>
            <a:bodyPr anchor="t" rtlCol="false" tIns="0" lIns="0" bIns="0" rIns="0">
              <a:spAutoFit/>
            </a:bodyPr>
            <a:lstStyle/>
            <a:p>
              <a:pPr algn="just">
                <a:lnSpc>
                  <a:spcPts val="3079"/>
                </a:lnSpc>
              </a:pPr>
              <a:r>
                <a:rPr lang="en-US" b="true" sz="2199" spc="175">
                  <a:solidFill>
                    <a:srgbClr val="13B8A6"/>
                  </a:solidFill>
                  <a:latin typeface="IBM Plex Mono Bold"/>
                  <a:ea typeface="IBM Plex Mono Bold"/>
                  <a:cs typeface="IBM Plex Mono Bold"/>
                  <a:sym typeface="IBM Plex Mono Bold"/>
                </a:rPr>
                <a:t>Cluster 2</a:t>
              </a:r>
            </a:p>
          </p:txBody>
        </p:sp>
        <p:sp>
          <p:nvSpPr>
            <p:cNvPr name="TextBox 31" id="31"/>
            <p:cNvSpPr txBox="true"/>
            <p:nvPr/>
          </p:nvSpPr>
          <p:spPr>
            <a:xfrm rot="0">
              <a:off x="381000" y="1750811"/>
              <a:ext cx="4318000" cy="475488"/>
            </a:xfrm>
            <a:prstGeom prst="rect">
              <a:avLst/>
            </a:prstGeom>
          </p:spPr>
          <p:txBody>
            <a:bodyPr anchor="t" rtlCol="false" tIns="0" lIns="0" bIns="0" rIns="0">
              <a:spAutoFit/>
            </a:bodyPr>
            <a:lstStyle/>
            <a:p>
              <a:pPr algn="just">
                <a:lnSpc>
                  <a:spcPts val="2652"/>
                </a:lnSpc>
              </a:pPr>
              <a:r>
                <a:rPr lang="en-US" sz="2550" b="true">
                  <a:solidFill>
                    <a:srgbClr val="102A33"/>
                  </a:solidFill>
                  <a:latin typeface="Montserrat Bold"/>
                  <a:ea typeface="Montserrat Bold"/>
                  <a:cs typeface="Montserrat Bold"/>
                  <a:sym typeface="Montserrat Bold"/>
                </a:rPr>
                <a:t>Khách hàng VIP</a:t>
              </a:r>
            </a:p>
          </p:txBody>
        </p:sp>
        <p:sp>
          <p:nvSpPr>
            <p:cNvPr name="TextBox 32" id="32"/>
            <p:cNvSpPr txBox="true"/>
            <p:nvPr/>
          </p:nvSpPr>
          <p:spPr>
            <a:xfrm rot="0">
              <a:off x="381000" y="2901937"/>
              <a:ext cx="4318000" cy="2076450"/>
            </a:xfrm>
            <a:prstGeom prst="rect">
              <a:avLst/>
            </a:prstGeom>
          </p:spPr>
          <p:txBody>
            <a:bodyPr anchor="t" rtlCol="false" tIns="0" lIns="0" bIns="0" rIns="0">
              <a:spAutoFit/>
            </a:bodyPr>
            <a:lstStyle/>
            <a:p>
              <a:pPr algn="just">
                <a:lnSpc>
                  <a:spcPts val="2531"/>
                </a:lnSpc>
              </a:pPr>
              <a:r>
                <a:rPr lang="en-US" sz="1875">
                  <a:solidFill>
                    <a:srgbClr val="102A33"/>
                  </a:solidFill>
                  <a:latin typeface="Open Sans"/>
                  <a:ea typeface="Open Sans"/>
                  <a:cs typeface="Open Sans"/>
                  <a:sym typeface="Open Sans"/>
                </a:rPr>
                <a:t>Xây dựng chương trình khách hàng thân thiết, ưu đãi độc quyền, upsell sản phẩm cao cấp để tăng giá trị vòng đời.</a:t>
              </a:r>
            </a:p>
          </p:txBody>
        </p:sp>
      </p:grpSp>
      <p:grpSp>
        <p:nvGrpSpPr>
          <p:cNvPr name="Group 33" id="33"/>
          <p:cNvGrpSpPr/>
          <p:nvPr/>
        </p:nvGrpSpPr>
        <p:grpSpPr>
          <a:xfrm rot="0">
            <a:off x="13525500" y="2381250"/>
            <a:ext cx="3810000" cy="3931364"/>
            <a:chOff x="0" y="0"/>
            <a:chExt cx="5080000" cy="5241819"/>
          </a:xfrm>
        </p:grpSpPr>
        <p:grpSp>
          <p:nvGrpSpPr>
            <p:cNvPr name="Group 34" id="34"/>
            <p:cNvGrpSpPr/>
            <p:nvPr/>
          </p:nvGrpSpPr>
          <p:grpSpPr>
            <a:xfrm rot="0">
              <a:off x="0" y="0"/>
              <a:ext cx="5080000" cy="5241819"/>
              <a:chOff x="0" y="0"/>
              <a:chExt cx="5080000" cy="5241819"/>
            </a:xfrm>
          </p:grpSpPr>
          <p:sp>
            <p:nvSpPr>
              <p:cNvPr name="Freeform 35" id="35"/>
              <p:cNvSpPr/>
              <p:nvPr/>
            </p:nvSpPr>
            <p:spPr>
              <a:xfrm flipH="false" flipV="false" rot="0">
                <a:off x="0" y="0"/>
                <a:ext cx="5080000" cy="5241819"/>
              </a:xfrm>
              <a:custGeom>
                <a:avLst/>
                <a:gdLst/>
                <a:ahLst/>
                <a:cxnLst/>
                <a:rect r="r" b="b" t="t" l="l"/>
                <a:pathLst>
                  <a:path h="5241819" w="5080000">
                    <a:moveTo>
                      <a:pt x="0" y="0"/>
                    </a:moveTo>
                    <a:lnTo>
                      <a:pt x="5080000" y="0"/>
                    </a:lnTo>
                    <a:lnTo>
                      <a:pt x="5080000" y="5241819"/>
                    </a:lnTo>
                    <a:lnTo>
                      <a:pt x="0" y="5241819"/>
                    </a:lnTo>
                    <a:close/>
                  </a:path>
                </a:pathLst>
              </a:custGeom>
              <a:solidFill>
                <a:srgbClr val="FFFFFF"/>
              </a:solidFill>
              <a:ln cap="sq">
                <a:noFill/>
                <a:prstDash val="solid"/>
                <a:miter/>
              </a:ln>
            </p:spPr>
          </p:sp>
          <p:sp>
            <p:nvSpPr>
              <p:cNvPr name="TextBox 36" id="36"/>
              <p:cNvSpPr txBox="true"/>
              <p:nvPr/>
            </p:nvSpPr>
            <p:spPr>
              <a:xfrm>
                <a:off x="0" y="-38100"/>
                <a:ext cx="5080000" cy="5279919"/>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0" y="0"/>
              <a:ext cx="5080000" cy="228600"/>
              <a:chOff x="0" y="0"/>
              <a:chExt cx="5080000" cy="228600"/>
            </a:xfrm>
          </p:grpSpPr>
          <p:sp>
            <p:nvSpPr>
              <p:cNvPr name="Freeform 38" id="38"/>
              <p:cNvSpPr/>
              <p:nvPr/>
            </p:nvSpPr>
            <p:spPr>
              <a:xfrm flipH="false" flipV="false" rot="0">
                <a:off x="0" y="0"/>
                <a:ext cx="5080000" cy="228600"/>
              </a:xfrm>
              <a:custGeom>
                <a:avLst/>
                <a:gdLst/>
                <a:ahLst/>
                <a:cxnLst/>
                <a:rect r="r" b="b" t="t" l="l"/>
                <a:pathLst>
                  <a:path h="228600" w="5080000">
                    <a:moveTo>
                      <a:pt x="0" y="0"/>
                    </a:moveTo>
                    <a:lnTo>
                      <a:pt x="5080000" y="0"/>
                    </a:lnTo>
                    <a:lnTo>
                      <a:pt x="5080000" y="228600"/>
                    </a:lnTo>
                    <a:lnTo>
                      <a:pt x="0" y="228600"/>
                    </a:lnTo>
                    <a:close/>
                  </a:path>
                </a:pathLst>
              </a:custGeom>
              <a:solidFill>
                <a:srgbClr val="FF7959"/>
              </a:solidFill>
              <a:ln cap="sq">
                <a:noFill/>
                <a:prstDash val="solid"/>
                <a:miter/>
              </a:ln>
            </p:spPr>
          </p:sp>
          <p:sp>
            <p:nvSpPr>
              <p:cNvPr name="TextBox 39" id="39"/>
              <p:cNvSpPr txBox="true"/>
              <p:nvPr/>
            </p:nvSpPr>
            <p:spPr>
              <a:xfrm>
                <a:off x="0" y="-38100"/>
                <a:ext cx="5080000" cy="2667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381000" y="596900"/>
              <a:ext cx="4318000" cy="484293"/>
            </a:xfrm>
            <a:prstGeom prst="rect">
              <a:avLst/>
            </a:prstGeom>
          </p:spPr>
          <p:txBody>
            <a:bodyPr anchor="t" rtlCol="false" tIns="0" lIns="0" bIns="0" rIns="0">
              <a:spAutoFit/>
            </a:bodyPr>
            <a:lstStyle/>
            <a:p>
              <a:pPr algn="l">
                <a:lnSpc>
                  <a:spcPts val="3079"/>
                </a:lnSpc>
              </a:pPr>
              <a:r>
                <a:rPr lang="en-US" sz="2199" spc="175" b="true">
                  <a:solidFill>
                    <a:srgbClr val="13B8A6"/>
                  </a:solidFill>
                  <a:latin typeface="IBM Plex Mono Bold"/>
                  <a:ea typeface="IBM Plex Mono Bold"/>
                  <a:cs typeface="IBM Plex Mono Bold"/>
                  <a:sym typeface="IBM Plex Mono Bold"/>
                </a:rPr>
                <a:t>Cluster 3</a:t>
              </a:r>
            </a:p>
          </p:txBody>
        </p:sp>
        <p:sp>
          <p:nvSpPr>
            <p:cNvPr name="TextBox 41" id="41"/>
            <p:cNvSpPr txBox="true"/>
            <p:nvPr/>
          </p:nvSpPr>
          <p:spPr>
            <a:xfrm rot="0">
              <a:off x="381000" y="1725798"/>
              <a:ext cx="4318000" cy="475488"/>
            </a:xfrm>
            <a:prstGeom prst="rect">
              <a:avLst/>
            </a:prstGeom>
          </p:spPr>
          <p:txBody>
            <a:bodyPr anchor="t" rtlCol="false" tIns="0" lIns="0" bIns="0" rIns="0">
              <a:spAutoFit/>
            </a:bodyPr>
            <a:lstStyle/>
            <a:p>
              <a:pPr algn="l">
                <a:lnSpc>
                  <a:spcPts val="2652"/>
                </a:lnSpc>
              </a:pPr>
              <a:r>
                <a:rPr lang="en-US" sz="2550" b="true">
                  <a:solidFill>
                    <a:srgbClr val="102A33"/>
                  </a:solidFill>
                  <a:latin typeface="Montserrat Bold"/>
                  <a:ea typeface="Montserrat Bold"/>
                  <a:cs typeface="Montserrat Bold"/>
                  <a:sym typeface="Montserrat Bold"/>
                </a:rPr>
                <a:t>Khách hàng bỏ giỏ</a:t>
              </a:r>
            </a:p>
          </p:txBody>
        </p:sp>
        <p:sp>
          <p:nvSpPr>
            <p:cNvPr name="TextBox 42" id="42"/>
            <p:cNvSpPr txBox="true"/>
            <p:nvPr/>
          </p:nvSpPr>
          <p:spPr>
            <a:xfrm rot="0">
              <a:off x="381000" y="2892491"/>
              <a:ext cx="4318000" cy="1657350"/>
            </a:xfrm>
            <a:prstGeom prst="rect">
              <a:avLst/>
            </a:prstGeom>
          </p:spPr>
          <p:txBody>
            <a:bodyPr anchor="t" rtlCol="false" tIns="0" lIns="0" bIns="0" rIns="0">
              <a:spAutoFit/>
            </a:bodyPr>
            <a:lstStyle/>
            <a:p>
              <a:pPr algn="just">
                <a:lnSpc>
                  <a:spcPts val="2531"/>
                </a:lnSpc>
              </a:pPr>
              <a:r>
                <a:rPr lang="en-US" sz="1875">
                  <a:solidFill>
                    <a:srgbClr val="102A33"/>
                  </a:solidFill>
                  <a:latin typeface="Open Sans"/>
                  <a:ea typeface="Open Sans"/>
                  <a:cs typeface="Open Sans"/>
                  <a:sym typeface="Open Sans"/>
                </a:rPr>
                <a:t>Áp dụng flash sale, voucher chốt đơn, hoặc thông báo khẩn cấp (limited time offer) để giảm tỷ lệ bỏ giỏ.</a:t>
              </a:r>
            </a:p>
          </p:txBody>
        </p:sp>
      </p:grpSp>
      <p:sp>
        <p:nvSpPr>
          <p:cNvPr name="Freeform 43" id="43"/>
          <p:cNvSpPr/>
          <p:nvPr/>
        </p:nvSpPr>
        <p:spPr>
          <a:xfrm flipH="false" flipV="false" rot="0">
            <a:off x="1367454" y="7555038"/>
            <a:ext cx="15752133" cy="1973127"/>
          </a:xfrm>
          <a:custGeom>
            <a:avLst/>
            <a:gdLst/>
            <a:ahLst/>
            <a:cxnLst/>
            <a:rect r="r" b="b" t="t" l="l"/>
            <a:pathLst>
              <a:path h="1973127" w="15752133">
                <a:moveTo>
                  <a:pt x="0" y="0"/>
                </a:moveTo>
                <a:lnTo>
                  <a:pt x="15752133" y="0"/>
                </a:lnTo>
                <a:lnTo>
                  <a:pt x="15752133" y="1973126"/>
                </a:lnTo>
                <a:lnTo>
                  <a:pt x="0" y="1973126"/>
                </a:lnTo>
                <a:lnTo>
                  <a:pt x="0" y="0"/>
                </a:lnTo>
                <a:close/>
              </a:path>
            </a:pathLst>
          </a:custGeom>
          <a:blipFill>
            <a:blip r:embed="rId2"/>
            <a:stretch>
              <a:fillRect l="0" t="-1911" r="0" b="-1911"/>
            </a:stretch>
          </a:blipFill>
        </p:spPr>
      </p:sp>
      <p:sp>
        <p:nvSpPr>
          <p:cNvPr name="TextBox 44" id="44"/>
          <p:cNvSpPr txBox="true"/>
          <p:nvPr/>
        </p:nvSpPr>
        <p:spPr>
          <a:xfrm rot="0">
            <a:off x="2124438" y="7814390"/>
            <a:ext cx="14282783" cy="1462861"/>
          </a:xfrm>
          <a:prstGeom prst="rect">
            <a:avLst/>
          </a:prstGeom>
        </p:spPr>
        <p:txBody>
          <a:bodyPr anchor="t" rtlCol="false" tIns="0" lIns="0" bIns="0" rIns="0">
            <a:spAutoFit/>
          </a:bodyPr>
          <a:lstStyle/>
          <a:p>
            <a:pPr algn="just">
              <a:lnSpc>
                <a:spcPts val="3907"/>
              </a:lnSpc>
            </a:pPr>
            <a:r>
              <a:rPr lang="en-US" sz="2604" spc="-52">
                <a:solidFill>
                  <a:srgbClr val="1B414D"/>
                </a:solidFill>
                <a:latin typeface="Montaser Arabic"/>
                <a:ea typeface="Montaser Arabic"/>
                <a:cs typeface="Montaser Arabic"/>
                <a:sym typeface="Montaser Arabic"/>
              </a:rPr>
              <a:t>4 đề xuất trên giúp doanh nghiệp tăng tỷ lệ chuyển đổi, giữ chân khách hàng VIP, kích cầu nhóm ít tương tác, và giảm tỷ lệ bỏ giỏ hàng, từ đó nâng cao doanh thu và giá trị kinh doanh tổng thể.</a:t>
            </a:r>
          </a:p>
        </p:txBody>
      </p:sp>
      <p:sp>
        <p:nvSpPr>
          <p:cNvPr name="TextBox 45" id="45"/>
          <p:cNvSpPr txBox="true"/>
          <p:nvPr/>
        </p:nvSpPr>
        <p:spPr>
          <a:xfrm rot="0">
            <a:off x="1352427" y="6826300"/>
            <a:ext cx="2251735" cy="573226"/>
          </a:xfrm>
          <a:prstGeom prst="rect">
            <a:avLst/>
          </a:prstGeom>
        </p:spPr>
        <p:txBody>
          <a:bodyPr anchor="t" rtlCol="false" tIns="0" lIns="0" bIns="0" rIns="0">
            <a:spAutoFit/>
          </a:bodyPr>
          <a:lstStyle/>
          <a:p>
            <a:pPr algn="l">
              <a:lnSpc>
                <a:spcPts val="4807"/>
              </a:lnSpc>
            </a:pPr>
            <a:r>
              <a:rPr lang="en-US" sz="3204" spc="-64" b="true">
                <a:solidFill>
                  <a:srgbClr val="1B414D"/>
                </a:solidFill>
                <a:latin typeface="Montaser Arabic Bold"/>
                <a:ea typeface="Montaser Arabic Bold"/>
                <a:cs typeface="Montaser Arabic Bold"/>
                <a:sym typeface="Montaser Arabic Bold"/>
              </a:rPr>
              <a:t>Kết luận: </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4F0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028700"/>
          <a:ext cx="16230600" cy="8965359"/>
        </p:xfrm>
        <a:graphic>
          <a:graphicData uri="http://schemas.openxmlformats.org/drawingml/2006/table">
            <a:tbl>
              <a:tblPr/>
              <a:tblGrid>
                <a:gridCol w="2714948"/>
                <a:gridCol w="3886199"/>
                <a:gridCol w="6911126"/>
                <a:gridCol w="2718327"/>
              </a:tblGrid>
              <a:tr h="917984">
                <a:tc>
                  <a:txBody>
                    <a:bodyPr anchor="t" rtlCol="false"/>
                    <a:lstStyle/>
                    <a:p>
                      <a:pPr algn="ctr">
                        <a:lnSpc>
                          <a:spcPts val="3220"/>
                        </a:lnSpc>
                        <a:defRPr/>
                      </a:pPr>
                      <a:r>
                        <a:rPr lang="en-US" sz="2300" b="true">
                          <a:solidFill>
                            <a:srgbClr val="081C24"/>
                          </a:solidFill>
                          <a:latin typeface="Montserrat Bold"/>
                          <a:ea typeface="Montserrat Bold"/>
                          <a:cs typeface="Montserrat Bold"/>
                          <a:sym typeface="Montserrat Bold"/>
                        </a:rPr>
                        <a:t>MSSV</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220"/>
                        </a:lnSpc>
                        <a:defRPr/>
                      </a:pPr>
                      <a:r>
                        <a:rPr lang="en-US" sz="2300" b="true">
                          <a:solidFill>
                            <a:srgbClr val="1B343D"/>
                          </a:solidFill>
                          <a:latin typeface="Montserrat Bold"/>
                          <a:ea typeface="Montserrat Bold"/>
                          <a:cs typeface="Montserrat Bold"/>
                          <a:sym typeface="Montserrat Bold"/>
                        </a:rPr>
                        <a:t>Tên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220"/>
                        </a:lnSpc>
                        <a:defRPr/>
                      </a:pPr>
                      <a:r>
                        <a:rPr lang="en-US" sz="2300" b="true">
                          <a:solidFill>
                            <a:srgbClr val="1B343D"/>
                          </a:solidFill>
                          <a:latin typeface="Montserrat Bold"/>
                          <a:ea typeface="Montserrat Bold"/>
                          <a:cs typeface="Montserrat Bold"/>
                          <a:sym typeface="Montserrat Bold"/>
                        </a:rPr>
                        <a:t>Nhiệm vụ</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c>
                  <a:txBody>
                    <a:bodyPr anchor="t" rtlCol="false"/>
                    <a:lstStyle/>
                    <a:p>
                      <a:pPr algn="ctr">
                        <a:lnSpc>
                          <a:spcPts val="3220"/>
                        </a:lnSpc>
                        <a:defRPr/>
                      </a:pPr>
                      <a:r>
                        <a:rPr lang="en-US" sz="2300" b="true">
                          <a:solidFill>
                            <a:srgbClr val="1B343D"/>
                          </a:solidFill>
                          <a:latin typeface="Montserrat Bold"/>
                          <a:ea typeface="Montserrat Bold"/>
                          <a:cs typeface="Montserrat Bold"/>
                          <a:sym typeface="Montserrat Bold"/>
                        </a:rPr>
                        <a:t>Ghi chú</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9DDC4"/>
                    </a:solidFill>
                  </a:tcPr>
                </a:tc>
              </a:tr>
              <a:tr h="1358004">
                <a:tc>
                  <a:txBody>
                    <a:bodyPr anchor="t" rtlCol="false"/>
                    <a:lstStyle/>
                    <a:p>
                      <a:pPr algn="ctr">
                        <a:lnSpc>
                          <a:spcPts val="3220"/>
                        </a:lnSpc>
                        <a:defRPr/>
                      </a:pPr>
                      <a:r>
                        <a:rPr lang="en-US" sz="2300">
                          <a:solidFill>
                            <a:srgbClr val="000000"/>
                          </a:solidFill>
                          <a:latin typeface="Montserrat"/>
                          <a:ea typeface="Montserrat"/>
                          <a:cs typeface="Montserrat"/>
                          <a:sym typeface="Montserrat"/>
                        </a:rPr>
                        <a:t>24700831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Lê Thị Hương Nga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Handling missing values, K-Means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L</a:t>
                      </a:r>
                      <a:r>
                        <a:rPr lang="en-US" sz="2300">
                          <a:solidFill>
                            <a:srgbClr val="000000"/>
                          </a:solidFill>
                          <a:latin typeface="Montserrat"/>
                          <a:ea typeface="Montserrat"/>
                          <a:cs typeface="Montserrat"/>
                          <a:sym typeface="Montserrat"/>
                        </a:rPr>
                        <a:t>àm slide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8004">
                <a:tc>
                  <a:txBody>
                    <a:bodyPr anchor="t" rtlCol="false"/>
                    <a:lstStyle/>
                    <a:p>
                      <a:pPr algn="ctr">
                        <a:lnSpc>
                          <a:spcPts val="3220"/>
                        </a:lnSpc>
                        <a:defRPr/>
                      </a:pPr>
                      <a:r>
                        <a:rPr lang="en-US" sz="2300">
                          <a:solidFill>
                            <a:srgbClr val="000000"/>
                          </a:solidFill>
                          <a:latin typeface="Montserrat"/>
                          <a:ea typeface="Montserrat"/>
                          <a:cs typeface="Montserrat"/>
                          <a:sym typeface="Montserrat"/>
                        </a:rPr>
                        <a:t>2</a:t>
                      </a:r>
                      <a:r>
                        <a:rPr lang="en-US" sz="2300">
                          <a:solidFill>
                            <a:srgbClr val="000000"/>
                          </a:solidFill>
                          <a:latin typeface="Montserrat"/>
                          <a:ea typeface="Montserrat"/>
                          <a:cs typeface="Montserrat"/>
                          <a:sym typeface="Montserrat"/>
                        </a:rPr>
                        <a:t>4713501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Ngô Minh Luận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Univariate analysis, Regression Pipeline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8004">
                <a:tc>
                  <a:txBody>
                    <a:bodyPr anchor="t" rtlCol="false"/>
                    <a:lstStyle/>
                    <a:p>
                      <a:pPr algn="ctr">
                        <a:lnSpc>
                          <a:spcPts val="3220"/>
                        </a:lnSpc>
                        <a:defRPr/>
                      </a:pPr>
                      <a:r>
                        <a:rPr lang="en-US" sz="2300">
                          <a:solidFill>
                            <a:srgbClr val="000000"/>
                          </a:solidFill>
                          <a:latin typeface="Montserrat"/>
                          <a:ea typeface="Montserrat"/>
                          <a:cs typeface="Montserrat"/>
                          <a:sym typeface="Montserrat"/>
                        </a:rPr>
                        <a:t>24710531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Nguyễn Thị Tuyết Như</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Multivariate analysis, Classification Pipeline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Làm slide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88053">
                <a:tc>
                  <a:txBody>
                    <a:bodyPr anchor="t" rtlCol="false"/>
                    <a:lstStyle/>
                    <a:p>
                      <a:pPr algn="ctr">
                        <a:lnSpc>
                          <a:spcPts val="3220"/>
                        </a:lnSpc>
                        <a:defRPr/>
                      </a:pPr>
                      <a:r>
                        <a:rPr lang="en-US" sz="2300">
                          <a:solidFill>
                            <a:srgbClr val="000000"/>
                          </a:solidFill>
                          <a:latin typeface="Montserrat"/>
                          <a:ea typeface="Montserrat"/>
                          <a:cs typeface="Montserrat"/>
                          <a:sym typeface="Montserrat"/>
                        </a:rPr>
                        <a:t>24711001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Nguyễn Thế Vũ</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Modern data storage (Qdrant), Web User Interface (UI) Deployment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85312">
                <a:tc>
                  <a:txBody>
                    <a:bodyPr anchor="t" rtlCol="false"/>
                    <a:lstStyle/>
                    <a:p>
                      <a:pPr algn="ctr">
                        <a:lnSpc>
                          <a:spcPts val="3220"/>
                        </a:lnSpc>
                        <a:defRPr/>
                      </a:pPr>
                      <a:r>
                        <a:rPr lang="en-US" sz="2300">
                          <a:solidFill>
                            <a:srgbClr val="000000"/>
                          </a:solidFill>
                          <a:latin typeface="Montserrat"/>
                          <a:ea typeface="Montserrat"/>
                          <a:cs typeface="Montserrat"/>
                          <a:sym typeface="Montserrat"/>
                        </a:rPr>
                        <a:t>24696171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Huỳnh Gia Phát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Web crawling,</a:t>
                      </a:r>
                      <a:r>
                        <a:rPr lang="en-US" sz="2300">
                          <a:solidFill>
                            <a:srgbClr val="000000"/>
                          </a:solidFill>
                          <a:latin typeface="Montserrat"/>
                          <a:ea typeface="Montserrat"/>
                          <a:cs typeface="Montserrat"/>
                          <a:sym typeface="Montserrat"/>
                        </a:rPr>
                        <a:t> </a:t>
                      </a:r>
                      <a:r>
                        <a:rPr lang="en-US" sz="2300">
                          <a:solidFill>
                            <a:srgbClr val="000000"/>
                          </a:solidFill>
                          <a:latin typeface="Montserrat"/>
                          <a:ea typeface="Montserrat"/>
                          <a:cs typeface="Montserrat"/>
                          <a:sym typeface="Montserrat"/>
                        </a:rPr>
                        <a:t>external dataset, data integration – concat &amp; merge, Dynamic Data Generation, PCA, Modern data storage (MongoDB Atlas)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220"/>
                        </a:lnSpc>
                        <a:defRPr/>
                      </a:pPr>
                      <a:r>
                        <a:rPr lang="en-US" sz="2300">
                          <a:solidFill>
                            <a:srgbClr val="000000"/>
                          </a:solidFill>
                          <a:latin typeface="Montserrat"/>
                          <a:ea typeface="Montserrat"/>
                          <a:cs typeface="Montserrat"/>
                          <a:sym typeface="Montserrat"/>
                        </a:rPr>
                        <a:t>C</a:t>
                      </a:r>
                      <a:r>
                        <a:rPr lang="en-US" sz="2300">
                          <a:solidFill>
                            <a:srgbClr val="000000"/>
                          </a:solidFill>
                          <a:latin typeface="Montserrat"/>
                          <a:ea typeface="Montserrat"/>
                          <a:cs typeface="Montserrat"/>
                          <a:sym typeface="Montserrat"/>
                        </a:rPr>
                        <a:t>heck nội dung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4600061" y="354153"/>
            <a:ext cx="9087878" cy="515365"/>
          </a:xfrm>
          <a:prstGeom prst="rect">
            <a:avLst/>
          </a:prstGeom>
        </p:spPr>
        <p:txBody>
          <a:bodyPr anchor="t" rtlCol="false" tIns="0" lIns="0" bIns="0" rIns="0">
            <a:spAutoFit/>
          </a:bodyPr>
          <a:lstStyle/>
          <a:p>
            <a:pPr algn="l">
              <a:lnSpc>
                <a:spcPts val="3951"/>
              </a:lnSpc>
            </a:pPr>
            <a:r>
              <a:rPr lang="en-US" sz="3799" b="true">
                <a:solidFill>
                  <a:srgbClr val="1355B8"/>
                </a:solidFill>
                <a:latin typeface="Montserrat Bold"/>
                <a:ea typeface="Montserrat Bold"/>
                <a:cs typeface="Montserrat Bold"/>
                <a:sym typeface="Montserrat Bold"/>
              </a:rPr>
              <a:t>Thành viên + Phân công Stage 1 &amp; 2</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sp>
        <p:nvSpPr>
          <p:cNvPr name="Freeform 3" id="3"/>
          <p:cNvSpPr/>
          <p:nvPr/>
        </p:nvSpPr>
        <p:spPr>
          <a:xfrm flipH="false" flipV="false" rot="-5400000">
            <a:off x="5029200" y="-4000500"/>
            <a:ext cx="8229600" cy="18288000"/>
          </a:xfrm>
          <a:custGeom>
            <a:avLst/>
            <a:gdLst/>
            <a:ahLst/>
            <a:cxnLst/>
            <a:rect r="r" b="b" t="t" l="l"/>
            <a:pathLst>
              <a:path h="18288000" w="8229600">
                <a:moveTo>
                  <a:pt x="0" y="0"/>
                </a:moveTo>
                <a:lnTo>
                  <a:pt x="8229600" y="0"/>
                </a:lnTo>
                <a:lnTo>
                  <a:pt x="8229600" y="18288000"/>
                </a:lnTo>
                <a:lnTo>
                  <a:pt x="0" y="18288000"/>
                </a:lnTo>
                <a:lnTo>
                  <a:pt x="0" y="0"/>
                </a:lnTo>
                <a:close/>
              </a:path>
            </a:pathLst>
          </a:custGeom>
          <a:blipFill>
            <a:blip r:embed="rId3"/>
            <a:stretch>
              <a:fillRect l="-28611" t="0" r="-28611" b="0"/>
            </a:stretch>
          </a:blipFill>
        </p:spPr>
      </p:sp>
      <p:sp>
        <p:nvSpPr>
          <p:cNvPr name="Freeform 4" id="4"/>
          <p:cNvSpPr/>
          <p:nvPr/>
        </p:nvSpPr>
        <p:spPr>
          <a:xfrm flipH="false" flipV="false" rot="0">
            <a:off x="13517039" y="199822"/>
            <a:ext cx="7484522" cy="8712466"/>
          </a:xfrm>
          <a:custGeom>
            <a:avLst/>
            <a:gdLst/>
            <a:ahLst/>
            <a:cxnLst/>
            <a:rect r="r" b="b" t="t" l="l"/>
            <a:pathLst>
              <a:path h="8712466" w="7484522">
                <a:moveTo>
                  <a:pt x="0" y="0"/>
                </a:moveTo>
                <a:lnTo>
                  <a:pt x="7484522" y="0"/>
                </a:lnTo>
                <a:lnTo>
                  <a:pt x="7484522" y="8712465"/>
                </a:lnTo>
                <a:lnTo>
                  <a:pt x="0" y="8712465"/>
                </a:lnTo>
                <a:lnTo>
                  <a:pt x="0" y="0"/>
                </a:lnTo>
                <a:close/>
              </a:path>
            </a:pathLst>
          </a:custGeom>
          <a:blipFill>
            <a:blip r:embed="rId4"/>
            <a:stretch>
              <a:fillRect l="0" t="0" r="0" b="0"/>
            </a:stretch>
          </a:blipFill>
        </p:spPr>
      </p:sp>
      <p:sp>
        <p:nvSpPr>
          <p:cNvPr name="Freeform 5" id="5"/>
          <p:cNvSpPr/>
          <p:nvPr/>
        </p:nvSpPr>
        <p:spPr>
          <a:xfrm flipH="true" flipV="false" rot="0">
            <a:off x="-1438749" y="3661206"/>
            <a:ext cx="5511497" cy="6399631"/>
          </a:xfrm>
          <a:custGeom>
            <a:avLst/>
            <a:gdLst/>
            <a:ahLst/>
            <a:cxnLst/>
            <a:rect r="r" b="b" t="t" l="l"/>
            <a:pathLst>
              <a:path h="6399631" w="5511497">
                <a:moveTo>
                  <a:pt x="5511497" y="0"/>
                </a:moveTo>
                <a:lnTo>
                  <a:pt x="0" y="0"/>
                </a:lnTo>
                <a:lnTo>
                  <a:pt x="0" y="6399631"/>
                </a:lnTo>
                <a:lnTo>
                  <a:pt x="5511497" y="6399631"/>
                </a:lnTo>
                <a:lnTo>
                  <a:pt x="5511497" y="0"/>
                </a:lnTo>
                <a:close/>
              </a:path>
            </a:pathLst>
          </a:custGeom>
          <a:blipFill>
            <a:blip r:embed="rId4"/>
            <a:stretch>
              <a:fillRect l="0" t="0" r="0" b="0"/>
            </a:stretch>
          </a:blipFill>
        </p:spPr>
      </p:sp>
      <p:sp>
        <p:nvSpPr>
          <p:cNvPr name="Freeform 6" id="6"/>
          <p:cNvSpPr/>
          <p:nvPr/>
        </p:nvSpPr>
        <p:spPr>
          <a:xfrm flipH="false" flipV="false" rot="0">
            <a:off x="13431397" y="6861021"/>
            <a:ext cx="5384294" cy="2833485"/>
          </a:xfrm>
          <a:custGeom>
            <a:avLst/>
            <a:gdLst/>
            <a:ahLst/>
            <a:cxnLst/>
            <a:rect r="r" b="b" t="t" l="l"/>
            <a:pathLst>
              <a:path h="2833485" w="5384294">
                <a:moveTo>
                  <a:pt x="0" y="0"/>
                </a:moveTo>
                <a:lnTo>
                  <a:pt x="5384294" y="0"/>
                </a:lnTo>
                <a:lnTo>
                  <a:pt x="5384294" y="2833485"/>
                </a:lnTo>
                <a:lnTo>
                  <a:pt x="0" y="2833485"/>
                </a:lnTo>
                <a:lnTo>
                  <a:pt x="0" y="0"/>
                </a:lnTo>
                <a:close/>
              </a:path>
            </a:pathLst>
          </a:custGeom>
          <a:blipFill>
            <a:blip r:embed="rId5"/>
            <a:stretch>
              <a:fillRect l="0" t="0" r="0" b="0"/>
            </a:stretch>
          </a:blipFill>
        </p:spPr>
      </p:sp>
      <p:sp>
        <p:nvSpPr>
          <p:cNvPr name="TextBox 7" id="7"/>
          <p:cNvSpPr txBox="true"/>
          <p:nvPr/>
        </p:nvSpPr>
        <p:spPr>
          <a:xfrm rot="0">
            <a:off x="4231748" y="2725500"/>
            <a:ext cx="9824505" cy="2583570"/>
          </a:xfrm>
          <a:prstGeom prst="rect">
            <a:avLst/>
          </a:prstGeom>
        </p:spPr>
        <p:txBody>
          <a:bodyPr anchor="t" rtlCol="false" tIns="0" lIns="0" bIns="0" rIns="0">
            <a:spAutoFit/>
          </a:bodyPr>
          <a:lstStyle/>
          <a:p>
            <a:pPr algn="ctr">
              <a:lnSpc>
                <a:spcPts val="20759"/>
              </a:lnSpc>
            </a:pPr>
            <a:r>
              <a:rPr lang="en-US" sz="15968">
                <a:solidFill>
                  <a:srgbClr val="645135"/>
                </a:solidFill>
                <a:latin typeface="Italianno"/>
                <a:ea typeface="Italianno"/>
                <a:cs typeface="Italianno"/>
                <a:sym typeface="Italianno"/>
              </a:rPr>
              <a:t>Xin Trân Trọng</a:t>
            </a:r>
          </a:p>
        </p:txBody>
      </p:sp>
      <p:sp>
        <p:nvSpPr>
          <p:cNvPr name="TextBox 8" id="8"/>
          <p:cNvSpPr txBox="true"/>
          <p:nvPr/>
        </p:nvSpPr>
        <p:spPr>
          <a:xfrm rot="0">
            <a:off x="3616692" y="4197951"/>
            <a:ext cx="11054616" cy="3128116"/>
          </a:xfrm>
          <a:prstGeom prst="rect">
            <a:avLst/>
          </a:prstGeom>
        </p:spPr>
        <p:txBody>
          <a:bodyPr anchor="t" rtlCol="false" tIns="0" lIns="0" bIns="0" rIns="0">
            <a:spAutoFit/>
          </a:bodyPr>
          <a:lstStyle/>
          <a:p>
            <a:pPr algn="ctr">
              <a:lnSpc>
                <a:spcPts val="25312"/>
              </a:lnSpc>
            </a:pPr>
            <a:r>
              <a:rPr lang="en-US" b="true" sz="19471">
                <a:solidFill>
                  <a:srgbClr val="C36050"/>
                </a:solidFill>
                <a:latin typeface="Be Vietnam Ultra-Bold"/>
                <a:ea typeface="Be Vietnam Ultra-Bold"/>
                <a:cs typeface="Be Vietnam Ultra-Bold"/>
                <a:sym typeface="Be Vietnam Ultra-Bold"/>
              </a:rPr>
              <a:t>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DAHXgy043-Q</dc:identifier>
  <dcterms:modified xsi:type="dcterms:W3CDTF">2011-08-01T06:04:30Z</dcterms:modified>
  <cp:revision>1</cp:revision>
  <dc:title>Phân tích thương mại điện tử</dc:title>
</cp:coreProperties>
</file>